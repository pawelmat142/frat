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Inter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  <p:embeddedFont>
      <p:font typeface="Inter Black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hjRSGHyMNC/BZti93aUlgBFk7/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33" Type="http://schemas.openxmlformats.org/officeDocument/2006/relationships/font" Target="fonts/Inter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Blac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c15776ce21187b9_1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h5c15776ce21187b9_1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5c15776ce21187b9_10_2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5c15776ce21187b9_10_2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c15776ce21187b9_10_1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h5c15776ce21187b9_10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386d3d9a51381266_27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h386d3d9a51381266_27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386d3d9a51381266_27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386d3d9a51381266_27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386d3d9a51381266_27_1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h386d3d9a51381266_27_1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386d3d9a51381266_27_2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386d3d9a51381266_27_2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386d3d9a51381266_27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h386d3d9a51381266_27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386d3d9a51381266_27_3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h386d3d9a51381266_27_3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386d3d9a51381266_27_4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h386d3d9a51381266_27_4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386d3d9a51381266_27_5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h386d3d9a51381266_27_5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386d3d9a51381266_27_6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h386d3d9a51381266_27_6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b8fe65fcff7108a_81_0)">
  <p:cSld name="Generated (h5b8fe65fcff7108a_81_0)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hyperlink" Target="http://psew.p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indeurope.org/data/products/europes-wind-energy-workforce-report/" TargetMode="External"/><Relationship Id="rId4" Type="http://schemas.openxmlformats.org/officeDocument/2006/relationships/hyperlink" Target="http://balticwind.eu/european-offshore-wind-supported-180000-jobs-and-eur-26-billion-in-value-in-2025-study-finds/" TargetMode="External"/><Relationship Id="rId9" Type="http://schemas.openxmlformats.org/officeDocument/2006/relationships/hyperlink" Target="http://balticwind.eu/local-content-in-polish-offshore-wind-from-pledge-to-purchase-order/" TargetMode="External"/><Relationship Id="rId5" Type="http://schemas.openxmlformats.org/officeDocument/2006/relationships/hyperlink" Target="https://bwo-offshorewind.de/en/pressemitteilung-offshore-windenergie-schafft-ueber-31-000-vollzeitstellen-und-146-milliarden-euro-wertschoepfung-in-deutschland/" TargetMode="External"/><Relationship Id="rId6" Type="http://schemas.openxmlformats.org/officeDocument/2006/relationships/hyperlink" Target="https://www.grandviewresearch.com/industry-analysis/rope-access-services-market-report" TargetMode="External"/><Relationship Id="rId7" Type="http://schemas.openxmlformats.org/officeDocument/2006/relationships/hyperlink" Target="https://dataintelo.com/report/rope-access-services-in-oil-and-gas-market" TargetMode="External"/><Relationship Id="rId8" Type="http://schemas.openxmlformats.org/officeDocument/2006/relationships/hyperlink" Target="http://tech.irata.org/page/work-safety-analysis-report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5905500" y="-1143000"/>
            <a:ext cx="4762500" cy="4762500"/>
          </a:xfrm>
          <a:prstGeom prst="ellipse">
            <a:avLst/>
          </a:prstGeom>
          <a:solidFill>
            <a:srgbClr val="0EA5E9">
              <a:alpha val="12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-571500" y="2857500"/>
            <a:ext cx="3810000" cy="38100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"/>
          <p:cNvGrpSpPr/>
          <p:nvPr/>
        </p:nvGrpSpPr>
        <p:grpSpPr>
          <a:xfrm>
            <a:off x="476250" y="381000"/>
            <a:ext cx="1714500" cy="247800"/>
            <a:chOff x="0" y="0"/>
            <a:chExt cx="1714500" cy="247800"/>
          </a:xfrm>
        </p:grpSpPr>
        <p:sp>
          <p:nvSpPr>
            <p:cNvPr id="58" name="Google Shape;58;p1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PLATFORMA BRANŻOWA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0" name="Google Shape;60;p1"/>
          <p:cNvSpPr txBox="1"/>
          <p:nvPr/>
        </p:nvSpPr>
        <p:spPr>
          <a:xfrm>
            <a:off x="476250" y="742950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420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FRAT</a:t>
            </a:r>
            <a:endParaRPr b="0" sz="420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Find Rope Access Technicians </a:t>
            </a:r>
            <a:r>
              <a:rPr b="0" lang="pl" sz="1050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(Znajdź techników dostępu linowego)</a:t>
            </a:r>
            <a:endParaRPr b="1" sz="13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476250" y="1809750"/>
            <a:ext cx="419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Platforma, która upraszcza komunikację i ułatwia szybkie znajdowanie techników dostępu linowego oraz specjalistów z branż pokrewnych.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2" name="Google Shape;62;p1"/>
          <p:cNvGrpSpPr/>
          <p:nvPr/>
        </p:nvGrpSpPr>
        <p:grpSpPr>
          <a:xfrm>
            <a:off x="476250" y="2571750"/>
            <a:ext cx="4172100" cy="809700"/>
            <a:chOff x="0" y="0"/>
            <a:chExt cx="4172100" cy="809700"/>
          </a:xfrm>
        </p:grpSpPr>
        <p:grpSp>
          <p:nvGrpSpPr>
            <p:cNvPr id="63" name="Google Shape;63;p1"/>
            <p:cNvGrpSpPr/>
            <p:nvPr/>
          </p:nvGrpSpPr>
          <p:grpSpPr>
            <a:xfrm>
              <a:off x="0" y="0"/>
              <a:ext cx="1314600" cy="809700"/>
              <a:chOff x="0" y="0"/>
              <a:chExt cx="1314600" cy="809700"/>
            </a:xfrm>
          </p:grpSpPr>
          <p:sp>
            <p:nvSpPr>
              <p:cNvPr id="64" name="Google Shape;64;p1"/>
              <p:cNvSpPr/>
              <p:nvPr/>
            </p:nvSpPr>
            <p:spPr>
              <a:xfrm>
                <a:off x="0" y="0"/>
                <a:ext cx="13146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"/>
              <p:cNvSpPr txBox="1"/>
              <p:nvPr/>
            </p:nvSpPr>
            <p:spPr>
              <a:xfrm>
                <a:off x="0" y="0"/>
                <a:ext cx="1314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Technicy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" name="Google Shape;66;p1"/>
            <p:cNvGrpSpPr/>
            <p:nvPr/>
          </p:nvGrpSpPr>
          <p:grpSpPr>
            <a:xfrm>
              <a:off x="1428750" y="0"/>
              <a:ext cx="1314600" cy="809700"/>
              <a:chOff x="0" y="0"/>
              <a:chExt cx="1314600" cy="809700"/>
            </a:xfrm>
          </p:grpSpPr>
          <p:sp>
            <p:nvSpPr>
              <p:cNvPr id="67" name="Google Shape;67;p1"/>
              <p:cNvSpPr/>
              <p:nvPr/>
            </p:nvSpPr>
            <p:spPr>
              <a:xfrm>
                <a:off x="0" y="0"/>
                <a:ext cx="13146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"/>
              <p:cNvSpPr txBox="1"/>
              <p:nvPr/>
            </p:nvSpPr>
            <p:spPr>
              <a:xfrm>
                <a:off x="0" y="0"/>
                <a:ext cx="1314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work</a:t>
                </a:r>
                <a:endParaRPr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Zlecenia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9" name="Google Shape;69;p1"/>
            <p:cNvGrpSpPr/>
            <p:nvPr/>
          </p:nvGrpSpPr>
          <p:grpSpPr>
            <a:xfrm>
              <a:off x="2857500" y="0"/>
              <a:ext cx="1314600" cy="809700"/>
              <a:chOff x="0" y="0"/>
              <a:chExt cx="1314600" cy="809700"/>
            </a:xfrm>
          </p:grpSpPr>
          <p:sp>
            <p:nvSpPr>
              <p:cNvPr id="70" name="Google Shape;70;p1"/>
              <p:cNvSpPr/>
              <p:nvPr/>
            </p:nvSpPr>
            <p:spPr>
              <a:xfrm>
                <a:off x="0" y="0"/>
                <a:ext cx="13146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"/>
              <p:cNvSpPr txBox="1"/>
              <p:nvPr/>
            </p:nvSpPr>
            <p:spPr>
              <a:xfrm>
                <a:off x="0" y="0"/>
                <a:ext cx="1314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school</a:t>
                </a:r>
                <a:endParaRPr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Szkolenia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" name="Google Shape;72;p1"/>
          <p:cNvGrpSpPr/>
          <p:nvPr/>
        </p:nvGrpSpPr>
        <p:grpSpPr>
          <a:xfrm>
            <a:off x="476250" y="3667125"/>
            <a:ext cx="4172100" cy="666900"/>
            <a:chOff x="0" y="0"/>
            <a:chExt cx="4172100" cy="666900"/>
          </a:xfrm>
        </p:grpSpPr>
        <p:sp>
          <p:nvSpPr>
            <p:cNvPr id="73" name="Google Shape;73;p1"/>
            <p:cNvSpPr/>
            <p:nvPr/>
          </p:nvSpPr>
          <p:spPr>
            <a:xfrm>
              <a:off x="0" y="0"/>
              <a:ext cx="4172100" cy="666900"/>
            </a:xfrm>
            <a:prstGeom prst="roundRect">
              <a:avLst>
                <a:gd fmla="val 17142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"/>
            <p:cNvSpPr txBox="1"/>
            <p:nvPr/>
          </p:nvSpPr>
          <p:spPr>
            <a:xfrm>
              <a:off x="152400" y="95250"/>
              <a:ext cx="3867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DOSTĘPNOŚĆ PLATFORMY:</a:t>
              </a:r>
              <a:endParaRPr b="1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5" name="Google Shape;75;p1"/>
            <p:cNvGrpSpPr/>
            <p:nvPr/>
          </p:nvGrpSpPr>
          <p:grpSpPr>
            <a:xfrm>
              <a:off x="152400" y="304800"/>
              <a:ext cx="857400" cy="247800"/>
              <a:chOff x="0" y="0"/>
              <a:chExt cx="857400" cy="247800"/>
            </a:xfrm>
          </p:grpSpPr>
          <p:sp>
            <p:nvSpPr>
              <p:cNvPr id="76" name="Google Shape;76;p1"/>
              <p:cNvSpPr/>
              <p:nvPr/>
            </p:nvSpPr>
            <p:spPr>
              <a:xfrm>
                <a:off x="0" y="0"/>
                <a:ext cx="8574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5000"/>
                </a:srgbClr>
              </a:solidFill>
              <a:ln cap="flat" cmpd="sng" w="95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"/>
              <p:cNvSpPr txBox="1"/>
              <p:nvPr/>
            </p:nvSpPr>
            <p:spPr>
              <a:xfrm>
                <a:off x="0" y="0"/>
                <a:ext cx="857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Web App</a:t>
                </a:r>
                <a:endParaRPr b="0" sz="85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8" name="Google Shape;78;p1"/>
            <p:cNvGrpSpPr/>
            <p:nvPr/>
          </p:nvGrpSpPr>
          <p:grpSpPr>
            <a:xfrm>
              <a:off x="1085850" y="304800"/>
              <a:ext cx="666900" cy="247800"/>
              <a:chOff x="0" y="0"/>
              <a:chExt cx="666900" cy="247800"/>
            </a:xfrm>
          </p:grpSpPr>
          <p:sp>
            <p:nvSpPr>
              <p:cNvPr id="79" name="Google Shape;79;p1"/>
              <p:cNvSpPr/>
              <p:nvPr/>
            </p:nvSpPr>
            <p:spPr>
              <a:xfrm>
                <a:off x="0" y="0"/>
                <a:ext cx="6669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5000"/>
                </a:srgbClr>
              </a:solidFill>
              <a:ln cap="flat" cmpd="sng" w="95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"/>
              <p:cNvSpPr txBox="1"/>
              <p:nvPr/>
            </p:nvSpPr>
            <p:spPr>
              <a:xfrm>
                <a:off x="0" y="0"/>
                <a:ext cx="666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PWA</a:t>
                </a:r>
                <a:endParaRPr b="0" sz="85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81" name="Google Shape;81;p1"/>
            <p:cNvGrpSpPr/>
            <p:nvPr/>
          </p:nvGrpSpPr>
          <p:grpSpPr>
            <a:xfrm>
              <a:off x="1828800" y="304800"/>
              <a:ext cx="762000" cy="247800"/>
              <a:chOff x="0" y="0"/>
              <a:chExt cx="762000" cy="247800"/>
            </a:xfrm>
          </p:grpSpPr>
          <p:sp>
            <p:nvSpPr>
              <p:cNvPr id="82" name="Google Shape;82;p1"/>
              <p:cNvSpPr/>
              <p:nvPr/>
            </p:nvSpPr>
            <p:spPr>
              <a:xfrm>
                <a:off x="0" y="0"/>
                <a:ext cx="7620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5000"/>
                </a:srgbClr>
              </a:solidFill>
              <a:ln cap="flat" cmpd="sng" w="95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"/>
              <p:cNvSpPr txBox="1"/>
              <p:nvPr/>
            </p:nvSpPr>
            <p:spPr>
              <a:xfrm>
                <a:off x="0" y="0"/>
                <a:ext cx="762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Mobile</a:t>
                </a:r>
                <a:endParaRPr b="0" sz="85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84" name="Google Shape;84;p1"/>
          <p:cNvGrpSpPr/>
          <p:nvPr/>
        </p:nvGrpSpPr>
        <p:grpSpPr>
          <a:xfrm>
            <a:off x="5095875" y="381000"/>
            <a:ext cx="3571800" cy="3952838"/>
            <a:chOff x="0" y="0"/>
            <a:chExt cx="3571800" cy="395283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571800" cy="3952800"/>
            </a:xfrm>
            <a:prstGeom prst="roundRect">
              <a:avLst>
                <a:gd fmla="val 42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1"/>
            <p:cNvPicPr preferRelativeResize="0"/>
            <p:nvPr/>
          </p:nvPicPr>
          <p:blipFill rotWithShape="1">
            <a:blip r:embed="rId4">
              <a:alphaModFix/>
            </a:blip>
            <a:srcRect b="10147" l="0" r="0" t="7222"/>
            <a:stretch/>
          </p:blipFill>
          <p:spPr>
            <a:xfrm>
              <a:off x="0" y="0"/>
              <a:ext cx="3571800" cy="3952800"/>
            </a:xfrm>
            <a:prstGeom prst="roundRect">
              <a:avLst>
                <a:gd fmla="val 4266" name="adj"/>
              </a:avLst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2243138"/>
              <a:ext cx="3571800" cy="17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"/>
            <p:cNvSpPr txBox="1"/>
            <p:nvPr/>
          </p:nvSpPr>
          <p:spPr>
            <a:xfrm>
              <a:off x="228600" y="2857500"/>
              <a:ext cx="31146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Infrastruktura Cyfrowa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Łączymy profesjonalistów z możliwościami w całej Europie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EF4444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38BDF8">
              <a:alpha val="5882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571500" y="333375"/>
            <a:ext cx="8001000" cy="828600"/>
            <a:chOff x="0" y="0"/>
            <a:chExt cx="8001000" cy="8286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428900" cy="2286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pl" sz="85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PROBLEM BRANŻOWY</a:t>
              </a:r>
              <a:endParaRPr b="1" i="0" sz="8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304800"/>
              <a:ext cx="800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11"/>
                <a:buFont typeface="Arial"/>
                <a:buNone/>
              </a:pPr>
              <a:r>
                <a:rPr b="0" i="0" lang="pl" sz="1711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Szukanie wykwalifikowanych techników wciąż opiera się na </a:t>
              </a:r>
              <a:r>
                <a:rPr b="0" i="0" lang="pl" sz="1711" u="none" cap="none" strike="noStrike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rozproszonych sieciach</a:t>
              </a:r>
              <a:endParaRPr b="0" i="0" sz="1711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571500" y="1238250"/>
            <a:ext cx="3857700" cy="2238300"/>
            <a:chOff x="0" y="0"/>
            <a:chExt cx="3857700" cy="2238300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3857700" cy="2238300"/>
            </a:xfrm>
            <a:prstGeom prst="roundRect">
              <a:avLst>
                <a:gd fmla="val 680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905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90500" y="190500"/>
              <a:ext cx="342900" cy="342900"/>
            </a:xfrm>
            <a:prstGeom prst="roundRect">
              <a:avLst>
                <a:gd fmla="val 27777" name="adj"/>
              </a:avLst>
            </a:prstGeom>
            <a:solidFill>
              <a:srgbClr val="EF4444">
                <a:alpha val="1490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90500" y="181610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b="0" sz="2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647700" y="171450"/>
              <a:ext cx="295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Perspektywa Technika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0500" y="647700"/>
              <a:ext cx="34767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Zlecenia są rozproszone po grupach social media, komunikatorach i telefonach.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Dużo straconego czasu na przeszukiwanie i weryfikację.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Trudność w szybkim znalezieniu zlecenia w dogodnym terminie.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Ograniczone możliwości wyjścia poza własną sieć kontaktów.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4714875" y="1238250"/>
            <a:ext cx="3857700" cy="2238300"/>
            <a:chOff x="0" y="0"/>
            <a:chExt cx="3857700" cy="22383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3857700" cy="2238300"/>
            </a:xfrm>
            <a:prstGeom prst="roundRect">
              <a:avLst>
                <a:gd fmla="val 680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905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0500" y="190500"/>
              <a:ext cx="342900" cy="342900"/>
            </a:xfrm>
            <a:prstGeom prst="roundRect">
              <a:avLst>
                <a:gd fmla="val 27777" name="adj"/>
              </a:avLst>
            </a:prstGeom>
            <a:solidFill>
              <a:srgbClr val="F59E0B">
                <a:alpha val="1490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0500" y="181610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b="0" sz="20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647700" y="171450"/>
              <a:ext cx="295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Perspektywa Firmy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190500" y="647700"/>
              <a:ext cx="34767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Ręczne przeszukiwanie baz kontaktów, Excela i tablic ogłoszeń.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Czasochłonna weryfikacja certyfikatów i doświadczenia.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Trudne ustalanie bieżącej dostępności i mobilności.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pl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Ryzyko opóźnień w kompletowaniu ekipy projektowej.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571500" y="3667125"/>
            <a:ext cx="8001000" cy="1095300"/>
            <a:chOff x="0" y="0"/>
            <a:chExt cx="8001000" cy="10953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8001000" cy="1095300"/>
            </a:xfrm>
            <a:prstGeom prst="roundRect">
              <a:avLst>
                <a:gd fmla="val 13913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190500" y="15240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OBECNY CHAOS REKRUTACYJNY:</a:t>
              </a:r>
              <a:endParaRPr b="1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0500" y="381000"/>
              <a:ext cx="7620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Grupy social media </a:t>
              </a: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Komunikatory </a:t>
              </a: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Telefony </a:t>
              </a: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Pliki Excel </a:t>
              </a: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Znajomi </a:t>
              </a: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  <a:r>
                <a:rPr b="0" lang="pl" sz="95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E-maile</a:t>
              </a:r>
              <a:endParaRPr b="0" sz="95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238500" y="704850"/>
              <a:ext cx="1524000" cy="2667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3238500" y="704850"/>
              <a:ext cx="1524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9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VS. FRAT</a:t>
              </a:r>
              <a:endParaRPr b="0" sz="9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5c15776ce21187b9_10_1198"/>
          <p:cNvSpPr/>
          <p:nvPr/>
        </p:nvSpPr>
        <p:spPr>
          <a:xfrm>
            <a:off x="-1238250" y="-1619250"/>
            <a:ext cx="4762500" cy="476250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5c15776ce21187b9_10_1198"/>
          <p:cNvSpPr/>
          <p:nvPr/>
        </p:nvSpPr>
        <p:spPr>
          <a:xfrm>
            <a:off x="5114925" y="819150"/>
            <a:ext cx="5334000" cy="53340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h5c15776ce21187b9_10_1198"/>
          <p:cNvGrpSpPr/>
          <p:nvPr/>
        </p:nvGrpSpPr>
        <p:grpSpPr>
          <a:xfrm>
            <a:off x="381000" y="190500"/>
            <a:ext cx="2000100" cy="209700"/>
            <a:chOff x="0" y="0"/>
            <a:chExt cx="2000100" cy="209700"/>
          </a:xfrm>
        </p:grpSpPr>
        <p:sp>
          <p:nvSpPr>
            <p:cNvPr id="126" name="Google Shape;126;h5c15776ce21187b9_10_1198"/>
            <p:cNvSpPr/>
            <p:nvPr/>
          </p:nvSpPr>
          <p:spPr>
            <a:xfrm>
              <a:off x="0" y="0"/>
              <a:ext cx="20001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h5c15776ce21187b9_10_1198"/>
            <p:cNvSpPr txBox="1"/>
            <p:nvPr/>
          </p:nvSpPr>
          <p:spPr>
            <a:xfrm>
              <a:off x="0" y="0"/>
              <a:ext cx="20001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ROZWIAZANIE / PRODUKT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8" name="Google Shape;128;h5c15776ce21187b9_10_1198"/>
          <p:cNvSpPr txBox="1"/>
          <p:nvPr/>
        </p:nvSpPr>
        <p:spPr>
          <a:xfrm>
            <a:off x="381000" y="457200"/>
            <a:ext cx="561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3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FRAT przenosi </a:t>
            </a:r>
            <a:r>
              <a:rPr b="0" lang="pl" sz="136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rozproszony proces</a:t>
            </a:r>
            <a:r>
              <a:rPr b="0" lang="pl" sz="13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w jedno dedykowane miejsce</a:t>
            </a:r>
            <a:endParaRPr b="0" sz="136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9" name="Google Shape;129;h5c15776ce21187b9_10_1198"/>
          <p:cNvGrpSpPr/>
          <p:nvPr/>
        </p:nvGrpSpPr>
        <p:grpSpPr>
          <a:xfrm>
            <a:off x="381000" y="819150"/>
            <a:ext cx="5619900" cy="2247900"/>
            <a:chOff x="0" y="0"/>
            <a:chExt cx="5619900" cy="2247900"/>
          </a:xfrm>
        </p:grpSpPr>
        <p:sp>
          <p:nvSpPr>
            <p:cNvPr id="130" name="Google Shape;130;h5c15776ce21187b9_10_1198"/>
            <p:cNvSpPr/>
            <p:nvPr/>
          </p:nvSpPr>
          <p:spPr>
            <a:xfrm>
              <a:off x="0" y="0"/>
              <a:ext cx="5619900" cy="2247900"/>
            </a:xfrm>
            <a:prstGeom prst="roundRect">
              <a:avLst>
                <a:gd fmla="val 5932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h5c15776ce21187b9_10_1198"/>
            <p:cNvSpPr/>
            <p:nvPr/>
          </p:nvSpPr>
          <p:spPr>
            <a:xfrm>
              <a:off x="133350" y="133350"/>
              <a:ext cx="324000" cy="324000"/>
            </a:xfrm>
            <a:prstGeom prst="roundRect">
              <a:avLst>
                <a:gd fmla="val 23529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h5c15776ce21187b9_10_1198"/>
            <p:cNvSpPr txBox="1"/>
            <p:nvPr/>
          </p:nvSpPr>
          <p:spPr>
            <a:xfrm>
              <a:off x="133350" y="159639"/>
              <a:ext cx="324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3" name="Google Shape;133;h5c15776ce21187b9_10_1198"/>
            <p:cNvSpPr txBox="1"/>
            <p:nvPr/>
          </p:nvSpPr>
          <p:spPr>
            <a:xfrm>
              <a:off x="533400" y="114300"/>
              <a:ext cx="49530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l" sz="120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Dla Techników</a:t>
              </a:r>
              <a:endParaRPr b="1" i="0" sz="120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l" sz="85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Cyfrowy profil zawodowy i bezpośredni kontakt ze zleceniodawcami</a:t>
              </a:r>
              <a:endParaRPr b="1" i="0" sz="85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4" name="Google Shape;134;h5c15776ce21187b9_10_1198"/>
            <p:cNvGrpSpPr/>
            <p:nvPr/>
          </p:nvGrpSpPr>
          <p:grpSpPr>
            <a:xfrm>
              <a:off x="114300" y="514350"/>
              <a:ext cx="5333925" cy="705000"/>
              <a:chOff x="0" y="0"/>
              <a:chExt cx="5333925" cy="705000"/>
            </a:xfrm>
          </p:grpSpPr>
          <p:sp>
            <p:nvSpPr>
              <p:cNvPr id="135" name="Google Shape;135;h5c15776ce21187b9_10_1198"/>
              <p:cNvSpPr/>
              <p:nvPr/>
            </p:nvSpPr>
            <p:spPr>
              <a:xfrm>
                <a:off x="0" y="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h5c15776ce21187b9_10_1198"/>
              <p:cNvSpPr txBox="1"/>
              <p:nvPr/>
            </p:nvSpPr>
            <p:spPr>
              <a:xfrm>
                <a:off x="0" y="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Profil zawodowy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37" name="Google Shape;137;h5c15776ce21187b9_10_1198"/>
              <p:cNvSpPr/>
              <p:nvPr/>
            </p:nvSpPr>
            <p:spPr>
              <a:xfrm>
                <a:off x="2714625" y="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h5c15776ce21187b9_10_1198"/>
              <p:cNvSpPr txBox="1"/>
              <p:nvPr/>
            </p:nvSpPr>
            <p:spPr>
              <a:xfrm>
                <a:off x="2714625" y="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Certyfikaty i uprawnienia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39" name="Google Shape;139;h5c15776ce21187b9_10_1198"/>
              <p:cNvSpPr/>
              <p:nvPr/>
            </p:nvSpPr>
            <p:spPr>
              <a:xfrm>
                <a:off x="0" y="24765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h5c15776ce21187b9_10_1198"/>
              <p:cNvSpPr txBox="1"/>
              <p:nvPr/>
            </p:nvSpPr>
            <p:spPr>
              <a:xfrm>
                <a:off x="0" y="24765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Doświadczenie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41" name="Google Shape;141;h5c15776ce21187b9_10_1198"/>
              <p:cNvSpPr/>
              <p:nvPr/>
            </p:nvSpPr>
            <p:spPr>
              <a:xfrm>
                <a:off x="2714625" y="24765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h5c15776ce21187b9_10_1198"/>
              <p:cNvSpPr txBox="1"/>
              <p:nvPr/>
            </p:nvSpPr>
            <p:spPr>
              <a:xfrm>
                <a:off x="2714625" y="24765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Bieżąca dostępność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43" name="Google Shape;143;h5c15776ce21187b9_10_1198"/>
              <p:cNvSpPr/>
              <p:nvPr/>
            </p:nvSpPr>
            <p:spPr>
              <a:xfrm>
                <a:off x="0" y="49530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h5c15776ce21187b9_10_1198"/>
              <p:cNvSpPr txBox="1"/>
              <p:nvPr/>
            </p:nvSpPr>
            <p:spPr>
              <a:xfrm>
                <a:off x="0" y="49530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Lokalizacja i mobilność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45" name="Google Shape;145;h5c15776ce21187b9_10_1198"/>
              <p:cNvSpPr/>
              <p:nvPr/>
            </p:nvSpPr>
            <p:spPr>
              <a:xfrm>
                <a:off x="2714625" y="49530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h5c15776ce21187b9_10_1198"/>
              <p:cNvSpPr txBox="1"/>
              <p:nvPr/>
            </p:nvSpPr>
            <p:spPr>
              <a:xfrm>
                <a:off x="2714625" y="495300"/>
                <a:ext cx="2619300" cy="2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Bezpośredni czat i kontakt</a:t>
                </a:r>
                <a:endParaRPr b="0" i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47" name="Google Shape;147;h5c15776ce21187b9_10_1198"/>
            <p:cNvSpPr/>
            <p:nvPr/>
          </p:nvSpPr>
          <p:spPr>
            <a:xfrm>
              <a:off x="114300" y="1333500"/>
              <a:ext cx="5391300" cy="781200"/>
            </a:xfrm>
            <a:prstGeom prst="roundRect">
              <a:avLst>
                <a:gd fmla="val 9756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h5c15776ce21187b9_10_1198"/>
            <p:cNvSpPr txBox="1"/>
            <p:nvPr/>
          </p:nvSpPr>
          <p:spPr>
            <a:xfrm>
              <a:off x="209550" y="1390650"/>
              <a:ext cx="52008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l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Przykład: </a:t>
              </a:r>
              <a:r>
                <a:rPr b="0" i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Technik buduje swój profil przez intuicyjny formularz, dodaje certyfikaty (np. IRATA, GWO) i kalendarz dostępności, po czym uzgadnia szczegóły projektu na wbudowanym czacie.</a:t>
              </a:r>
              <a:endParaRPr b="1" i="0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h5c15776ce21187b9_10_1198"/>
          <p:cNvGrpSpPr/>
          <p:nvPr/>
        </p:nvGrpSpPr>
        <p:grpSpPr>
          <a:xfrm>
            <a:off x="376238" y="3157538"/>
            <a:ext cx="5629200" cy="1019100"/>
            <a:chOff x="-4762" y="-4762"/>
            <a:chExt cx="5629200" cy="1019100"/>
          </a:xfrm>
        </p:grpSpPr>
        <p:pic>
          <p:nvPicPr>
            <p:cNvPr id="150" name="Google Shape;150;h5c15776ce21187b9_10_11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5629200" cy="1019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" name="Google Shape;151;h5c15776ce21187b9_10_1198"/>
            <p:cNvGrpSpPr/>
            <p:nvPr/>
          </p:nvGrpSpPr>
          <p:grpSpPr>
            <a:xfrm>
              <a:off x="95250" y="95250"/>
              <a:ext cx="1714500" cy="819300"/>
              <a:chOff x="0" y="0"/>
              <a:chExt cx="1714500" cy="819300"/>
            </a:xfrm>
          </p:grpSpPr>
          <p:sp>
            <p:nvSpPr>
              <p:cNvPr id="152" name="Google Shape;152;h5c15776ce21187b9_10_1198"/>
              <p:cNvSpPr/>
              <p:nvPr/>
            </p:nvSpPr>
            <p:spPr>
              <a:xfrm>
                <a:off x="0" y="0"/>
                <a:ext cx="1714500" cy="819300"/>
              </a:xfrm>
              <a:prstGeom prst="roundRect">
                <a:avLst>
                  <a:gd fmla="val 9302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h5c15776ce21187b9_10_1198"/>
              <p:cNvSpPr txBox="1"/>
              <p:nvPr/>
            </p:nvSpPr>
            <p:spPr>
              <a:xfrm>
                <a:off x="76200" y="76200"/>
                <a:ext cx="15621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l" sz="950" u="none" strike="noStrike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Jedno źródło danych</a:t>
                </a:r>
                <a:endParaRPr b="1" i="0" sz="9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pl" sz="800" u="none" strike="noStrike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Wszystkie certyfikaty i dostępność w jednym cyfrowym profilu</a:t>
                </a:r>
                <a:endParaRPr b="1" i="0" sz="80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4" name="Google Shape;154;h5c15776ce21187b9_10_1198"/>
            <p:cNvGrpSpPr/>
            <p:nvPr/>
          </p:nvGrpSpPr>
          <p:grpSpPr>
            <a:xfrm>
              <a:off x="1905000" y="95250"/>
              <a:ext cx="1714500" cy="819300"/>
              <a:chOff x="0" y="0"/>
              <a:chExt cx="1714500" cy="819300"/>
            </a:xfrm>
          </p:grpSpPr>
          <p:sp>
            <p:nvSpPr>
              <p:cNvPr id="155" name="Google Shape;155;h5c15776ce21187b9_10_1198"/>
              <p:cNvSpPr/>
              <p:nvPr/>
            </p:nvSpPr>
            <p:spPr>
              <a:xfrm>
                <a:off x="0" y="0"/>
                <a:ext cx="1714500" cy="819300"/>
              </a:xfrm>
              <a:prstGeom prst="roundRect">
                <a:avLst>
                  <a:gd fmla="val 9302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h5c15776ce21187b9_10_1198"/>
              <p:cNvSpPr txBox="1"/>
              <p:nvPr/>
            </p:nvSpPr>
            <p:spPr>
              <a:xfrm>
                <a:off x="76200" y="76200"/>
                <a:ext cx="15621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l" sz="950" u="none" strike="noStrike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Dopasowane zlecenia</a:t>
                </a:r>
                <a:endParaRPr b="1" i="0" sz="9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pl" sz="800" u="none" strike="noStrike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Oferty idealnie skrojone pod kwalifikacje i kalendarz technika</a:t>
                </a:r>
                <a:endParaRPr b="1" i="0" sz="80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7" name="Google Shape;157;h5c15776ce21187b9_10_1198"/>
            <p:cNvGrpSpPr/>
            <p:nvPr/>
          </p:nvGrpSpPr>
          <p:grpSpPr>
            <a:xfrm>
              <a:off x="3714750" y="95250"/>
              <a:ext cx="1714500" cy="819300"/>
              <a:chOff x="0" y="0"/>
              <a:chExt cx="1714500" cy="819300"/>
            </a:xfrm>
          </p:grpSpPr>
          <p:sp>
            <p:nvSpPr>
              <p:cNvPr id="158" name="Google Shape;158;h5c15776ce21187b9_10_1198"/>
              <p:cNvSpPr/>
              <p:nvPr/>
            </p:nvSpPr>
            <p:spPr>
              <a:xfrm>
                <a:off x="0" y="0"/>
                <a:ext cx="1714500" cy="819300"/>
              </a:xfrm>
              <a:prstGeom prst="roundRect">
                <a:avLst>
                  <a:gd fmla="val 9302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h5c15776ce21187b9_10_1198"/>
              <p:cNvSpPr txBox="1"/>
              <p:nvPr/>
            </p:nvSpPr>
            <p:spPr>
              <a:xfrm>
                <a:off x="76200" y="76200"/>
                <a:ext cx="15621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l" sz="879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Czat w czasie rzeczywistym</a:t>
                </a:r>
                <a:endParaRPr b="1" i="0" sz="879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pl" sz="74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Wbudowana komunikacja i powiadomienia skracają czas rekrutacji</a:t>
                </a:r>
                <a:endParaRPr b="1" i="0" sz="74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0" name="Google Shape;160;h5c15776ce21187b9_10_1198"/>
          <p:cNvGrpSpPr/>
          <p:nvPr/>
        </p:nvGrpSpPr>
        <p:grpSpPr>
          <a:xfrm>
            <a:off x="381000" y="4267200"/>
            <a:ext cx="5619900" cy="362100"/>
            <a:chOff x="0" y="0"/>
            <a:chExt cx="5619900" cy="362100"/>
          </a:xfrm>
        </p:grpSpPr>
        <p:sp>
          <p:nvSpPr>
            <p:cNvPr id="161" name="Google Shape;161;h5c15776ce21187b9_10_1198"/>
            <p:cNvSpPr/>
            <p:nvPr/>
          </p:nvSpPr>
          <p:spPr>
            <a:xfrm>
              <a:off x="0" y="0"/>
              <a:ext cx="5619900" cy="3621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h5c15776ce21187b9_10_1198"/>
            <p:cNvSpPr txBox="1"/>
            <p:nvPr/>
          </p:nvSpPr>
          <p:spPr>
            <a:xfrm>
              <a:off x="0" y="0"/>
              <a:ext cx="56199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l" sz="1050" u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Właściwy technik </a:t>
              </a:r>
              <a:r>
                <a:rPr b="0" i="0" lang="pl" sz="1050" u="none" strike="noStrike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→</a:t>
              </a:r>
              <a:r>
                <a:rPr b="0" i="0" lang="pl" sz="1050" u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Właściwe zlecenie </a:t>
              </a:r>
              <a:r>
                <a:rPr b="0" i="0" lang="pl" sz="1050" u="none" strike="noStrike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→</a:t>
              </a:r>
              <a:r>
                <a:rPr b="0" i="0" lang="pl" sz="1050" u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We właściwym czasie</a:t>
              </a:r>
              <a:endParaRPr b="0" i="0" sz="105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63" name="Google Shape;163;h5c15776ce21187b9_10_1198"/>
          <p:cNvSpPr/>
          <p:nvPr/>
        </p:nvSpPr>
        <p:spPr>
          <a:xfrm>
            <a:off x="6275600" y="247650"/>
            <a:ext cx="2095500" cy="4648200"/>
          </a:xfrm>
          <a:prstGeom prst="roundRect">
            <a:avLst>
              <a:gd fmla="val 10909" name="adj"/>
            </a:avLst>
          </a:prstGeom>
          <a:solidFill>
            <a:srgbClr val="0F172A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h5c15776ce21187b9_10_1198" title="techni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5314" y="297214"/>
            <a:ext cx="2000100" cy="4548000"/>
          </a:xfrm>
          <a:prstGeom prst="roundRect">
            <a:avLst>
              <a:gd fmla="val 1003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5c15776ce21187b9_10_2766"/>
          <p:cNvSpPr/>
          <p:nvPr/>
        </p:nvSpPr>
        <p:spPr>
          <a:xfrm>
            <a:off x="-468144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5c15776ce21187b9_10_2766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h5c15776ce21187b9_10_2766"/>
          <p:cNvGrpSpPr/>
          <p:nvPr/>
        </p:nvGrpSpPr>
        <p:grpSpPr>
          <a:xfrm>
            <a:off x="381000" y="190500"/>
            <a:ext cx="8382000" cy="590700"/>
            <a:chOff x="0" y="0"/>
            <a:chExt cx="8382000" cy="590700"/>
          </a:xfrm>
        </p:grpSpPr>
        <p:sp>
          <p:nvSpPr>
            <p:cNvPr id="172" name="Google Shape;172;h5c15776ce21187b9_10_2766"/>
            <p:cNvSpPr/>
            <p:nvPr/>
          </p:nvSpPr>
          <p:spPr>
            <a:xfrm>
              <a:off x="0" y="0"/>
              <a:ext cx="18096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h5c15776ce21187b9_10_2766"/>
            <p:cNvSpPr txBox="1"/>
            <p:nvPr/>
          </p:nvSpPr>
          <p:spPr>
            <a:xfrm>
              <a:off x="0" y="0"/>
              <a:ext cx="18096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ROZWIAZANIE / PRODUKT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h5c15776ce21187b9_10_2766"/>
            <p:cNvSpPr txBox="1"/>
            <p:nvPr/>
          </p:nvSpPr>
          <p:spPr>
            <a:xfrm>
              <a:off x="0" y="266700"/>
              <a:ext cx="83820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Szybkie i intuicyjne </a:t>
              </a:r>
              <a:r>
                <a:rPr b="0" lang="pl" sz="1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budowanie profilu</a:t>
              </a:r>
              <a:r>
                <a:rPr b="0" lang="pl" sz="1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zawodowego technika</a:t>
              </a:r>
              <a:endParaRPr b="0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75" name="Google Shape;175;h5c15776ce21187b9_10_2766"/>
          <p:cNvPicPr preferRelativeResize="0"/>
          <p:nvPr/>
        </p:nvPicPr>
        <p:blipFill rotWithShape="1">
          <a:blip r:embed="rId4">
            <a:alphaModFix/>
          </a:blip>
          <a:srcRect b="239" l="0" r="0" t="239"/>
          <a:stretch/>
        </p:blipFill>
        <p:spPr>
          <a:xfrm>
            <a:off x="428625" y="876300"/>
            <a:ext cx="1809600" cy="4067100"/>
          </a:xfrm>
          <a:prstGeom prst="roundRect">
            <a:avLst>
              <a:gd fmla="val 7894" name="adj"/>
            </a:avLst>
          </a:prstGeom>
          <a:noFill/>
          <a:ln>
            <a:noFill/>
          </a:ln>
        </p:spPr>
      </p:pic>
      <p:pic>
        <p:nvPicPr>
          <p:cNvPr id="176" name="Google Shape;176;h5c15776ce21187b9_10_2766"/>
          <p:cNvPicPr preferRelativeResize="0"/>
          <p:nvPr/>
        </p:nvPicPr>
        <p:blipFill rotWithShape="1">
          <a:blip r:embed="rId5">
            <a:alphaModFix/>
          </a:blip>
          <a:srcRect b="269" l="0" r="0" t="269"/>
          <a:stretch/>
        </p:blipFill>
        <p:spPr>
          <a:xfrm>
            <a:off x="2600325" y="876300"/>
            <a:ext cx="1809600" cy="4067100"/>
          </a:xfrm>
          <a:prstGeom prst="roundRect">
            <a:avLst>
              <a:gd fmla="val 7894" name="adj"/>
            </a:avLst>
          </a:prstGeom>
          <a:noFill/>
          <a:ln>
            <a:noFill/>
          </a:ln>
        </p:spPr>
      </p:pic>
      <p:pic>
        <p:nvPicPr>
          <p:cNvPr id="177" name="Google Shape;177;h5c15776ce21187b9_10_2766"/>
          <p:cNvPicPr preferRelativeResize="0"/>
          <p:nvPr/>
        </p:nvPicPr>
        <p:blipFill rotWithShape="1">
          <a:blip r:embed="rId6">
            <a:alphaModFix/>
          </a:blip>
          <a:srcRect b="308" l="0" r="0" t="318"/>
          <a:stretch/>
        </p:blipFill>
        <p:spPr>
          <a:xfrm>
            <a:off x="4772025" y="876300"/>
            <a:ext cx="1809600" cy="4067100"/>
          </a:xfrm>
          <a:prstGeom prst="roundRect">
            <a:avLst>
              <a:gd fmla="val 7894" name="adj"/>
            </a:avLst>
          </a:prstGeom>
          <a:noFill/>
          <a:ln>
            <a:noFill/>
          </a:ln>
        </p:spPr>
      </p:pic>
      <p:pic>
        <p:nvPicPr>
          <p:cNvPr id="178" name="Google Shape;178;h5c15776ce21187b9_10_2766"/>
          <p:cNvPicPr preferRelativeResize="0"/>
          <p:nvPr/>
        </p:nvPicPr>
        <p:blipFill rotWithShape="1">
          <a:blip r:embed="rId7">
            <a:alphaModFix/>
          </a:blip>
          <a:srcRect b="789" l="0" r="0" t="562"/>
          <a:stretch/>
        </p:blipFill>
        <p:spPr>
          <a:xfrm>
            <a:off x="6943725" y="876300"/>
            <a:ext cx="1809600" cy="4067100"/>
          </a:xfrm>
          <a:prstGeom prst="roundRect">
            <a:avLst>
              <a:gd fmla="val 7894" name="adj"/>
            </a:avLst>
          </a:prstGeom>
          <a:noFill/>
          <a:ln>
            <a:noFill/>
          </a:ln>
        </p:spPr>
      </p:pic>
      <p:grpSp>
        <p:nvGrpSpPr>
          <p:cNvPr id="179" name="Google Shape;179;h5c15776ce21187b9_10_2766"/>
          <p:cNvGrpSpPr/>
          <p:nvPr/>
        </p:nvGrpSpPr>
        <p:grpSpPr>
          <a:xfrm>
            <a:off x="6762750" y="190500"/>
            <a:ext cx="2000100" cy="228600"/>
            <a:chOff x="0" y="0"/>
            <a:chExt cx="2000100" cy="228600"/>
          </a:xfrm>
        </p:grpSpPr>
        <p:sp>
          <p:nvSpPr>
            <p:cNvPr id="180" name="Google Shape;180;h5c15776ce21187b9_10_2766"/>
            <p:cNvSpPr/>
            <p:nvPr/>
          </p:nvSpPr>
          <p:spPr>
            <a:xfrm>
              <a:off x="0" y="0"/>
              <a:ext cx="2000100" cy="2286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h5c15776ce21187b9_10_2766"/>
            <p:cNvSpPr txBox="1"/>
            <p:nvPr/>
          </p:nvSpPr>
          <p:spPr>
            <a:xfrm>
              <a:off x="0" y="0"/>
              <a:ext cx="2000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EKRANY APLIKACJI (MOBILE)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5c15776ce21187b9_10_1801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h5c15776ce21187b9_10_1801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h5c15776ce21187b9_10_1801"/>
          <p:cNvGrpSpPr/>
          <p:nvPr/>
        </p:nvGrpSpPr>
        <p:grpSpPr>
          <a:xfrm>
            <a:off x="381000" y="190500"/>
            <a:ext cx="2000100" cy="209700"/>
            <a:chOff x="0" y="0"/>
            <a:chExt cx="2000100" cy="209700"/>
          </a:xfrm>
        </p:grpSpPr>
        <p:sp>
          <p:nvSpPr>
            <p:cNvPr id="189" name="Google Shape;189;h5c15776ce21187b9_10_1801"/>
            <p:cNvSpPr/>
            <p:nvPr/>
          </p:nvSpPr>
          <p:spPr>
            <a:xfrm>
              <a:off x="0" y="0"/>
              <a:ext cx="20001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h5c15776ce21187b9_10_1801"/>
            <p:cNvSpPr txBox="1"/>
            <p:nvPr/>
          </p:nvSpPr>
          <p:spPr>
            <a:xfrm>
              <a:off x="0" y="0"/>
              <a:ext cx="20001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ROZWIAZANIE / PRODUKT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1" name="Google Shape;191;h5c15776ce21187b9_10_1801"/>
          <p:cNvSpPr txBox="1"/>
          <p:nvPr/>
        </p:nvSpPr>
        <p:spPr>
          <a:xfrm>
            <a:off x="381000" y="457200"/>
            <a:ext cx="561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3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FRAT przenosi </a:t>
            </a:r>
            <a:r>
              <a:rPr b="0" lang="pl" sz="136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rozproszony proces</a:t>
            </a:r>
            <a:r>
              <a:rPr b="0" lang="pl" sz="13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w jedno dedykowane miejsce</a:t>
            </a:r>
            <a:endParaRPr b="0" sz="136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92" name="Google Shape;192;h5c15776ce21187b9_10_1801"/>
          <p:cNvGrpSpPr/>
          <p:nvPr/>
        </p:nvGrpSpPr>
        <p:grpSpPr>
          <a:xfrm>
            <a:off x="381000" y="819150"/>
            <a:ext cx="5619900" cy="2247900"/>
            <a:chOff x="0" y="0"/>
            <a:chExt cx="5619900" cy="2247900"/>
          </a:xfrm>
        </p:grpSpPr>
        <p:sp>
          <p:nvSpPr>
            <p:cNvPr id="193" name="Google Shape;193;h5c15776ce21187b9_10_1801"/>
            <p:cNvSpPr/>
            <p:nvPr/>
          </p:nvSpPr>
          <p:spPr>
            <a:xfrm>
              <a:off x="0" y="0"/>
              <a:ext cx="5619900" cy="2247900"/>
            </a:xfrm>
            <a:prstGeom prst="roundRect">
              <a:avLst>
                <a:gd fmla="val 5932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h5c15776ce21187b9_10_1801"/>
            <p:cNvSpPr/>
            <p:nvPr/>
          </p:nvSpPr>
          <p:spPr>
            <a:xfrm>
              <a:off x="133350" y="133350"/>
              <a:ext cx="324000" cy="324000"/>
            </a:xfrm>
            <a:prstGeom prst="roundRect">
              <a:avLst>
                <a:gd fmla="val 23529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h5c15776ce21187b9_10_1801"/>
            <p:cNvSpPr txBox="1"/>
            <p:nvPr/>
          </p:nvSpPr>
          <p:spPr>
            <a:xfrm>
              <a:off x="133350" y="159639"/>
              <a:ext cx="324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18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6" name="Google Shape;196;h5c15776ce21187b9_10_1801"/>
            <p:cNvSpPr txBox="1"/>
            <p:nvPr/>
          </p:nvSpPr>
          <p:spPr>
            <a:xfrm>
              <a:off x="533400" y="114300"/>
              <a:ext cx="4953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Dla Firm i Zleceniodawców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Precyzyjne wyszukiwanie i błyskawiczne kompletowanie zespołów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h5c15776ce21187b9_10_1801"/>
            <p:cNvGrpSpPr/>
            <p:nvPr/>
          </p:nvGrpSpPr>
          <p:grpSpPr>
            <a:xfrm>
              <a:off x="114300" y="514350"/>
              <a:ext cx="5333925" cy="705000"/>
              <a:chOff x="0" y="0"/>
              <a:chExt cx="5333925" cy="705000"/>
            </a:xfrm>
          </p:grpSpPr>
          <p:sp>
            <p:nvSpPr>
              <p:cNvPr id="198" name="Google Shape;198;h5c15776ce21187b9_10_1801"/>
              <p:cNvSpPr/>
              <p:nvPr/>
            </p:nvSpPr>
            <p:spPr>
              <a:xfrm>
                <a:off x="0" y="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h5c15776ce21187b9_10_1801"/>
              <p:cNvSpPr txBox="1"/>
              <p:nvPr/>
            </p:nvSpPr>
            <p:spPr>
              <a:xfrm>
                <a:off x="0" y="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Precyzyjne wyszukiwanie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0" name="Google Shape;200;h5c15776ce21187b9_10_1801"/>
              <p:cNvSpPr/>
              <p:nvPr/>
            </p:nvSpPr>
            <p:spPr>
              <a:xfrm>
                <a:off x="2714625" y="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h5c15776ce21187b9_10_1801"/>
              <p:cNvSpPr txBox="1"/>
              <p:nvPr/>
            </p:nvSpPr>
            <p:spPr>
              <a:xfrm>
                <a:off x="2714625" y="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Zaawansowane filtry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2" name="Google Shape;202;h5c15776ce21187b9_10_1801"/>
              <p:cNvSpPr/>
              <p:nvPr/>
            </p:nvSpPr>
            <p:spPr>
              <a:xfrm>
                <a:off x="0" y="24765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h5c15776ce21187b9_10_1801"/>
              <p:cNvSpPr txBox="1"/>
              <p:nvPr/>
            </p:nvSpPr>
            <p:spPr>
              <a:xfrm>
                <a:off x="0" y="24765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Weryfikacja profilu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4" name="Google Shape;204;h5c15776ce21187b9_10_1801"/>
              <p:cNvSpPr/>
              <p:nvPr/>
            </p:nvSpPr>
            <p:spPr>
              <a:xfrm>
                <a:off x="2714625" y="24765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h5c15776ce21187b9_10_1801"/>
              <p:cNvSpPr txBox="1"/>
              <p:nvPr/>
            </p:nvSpPr>
            <p:spPr>
              <a:xfrm>
                <a:off x="2714625" y="24765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Podgląd dostępności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6" name="Google Shape;206;h5c15776ce21187b9_10_1801"/>
              <p:cNvSpPr/>
              <p:nvPr/>
            </p:nvSpPr>
            <p:spPr>
              <a:xfrm>
                <a:off x="0" y="49530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h5c15776ce21187b9_10_1801"/>
              <p:cNvSpPr txBox="1"/>
              <p:nvPr/>
            </p:nvSpPr>
            <p:spPr>
              <a:xfrm>
                <a:off x="0" y="49530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Publikacja projektów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8" name="Google Shape;208;h5c15776ce21187b9_10_1801"/>
              <p:cNvSpPr/>
              <p:nvPr/>
            </p:nvSpPr>
            <p:spPr>
              <a:xfrm>
                <a:off x="2714625" y="495300"/>
                <a:ext cx="26193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0EA5E9">
                  <a:alpha val="12000"/>
                </a:srgbClr>
              </a:solidFill>
              <a:ln cap="flat" cmpd="sng" w="76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h5c15776ce21187b9_10_1801"/>
              <p:cNvSpPr txBox="1"/>
              <p:nvPr/>
            </p:nvSpPr>
            <p:spPr>
              <a:xfrm>
                <a:off x="2714625" y="495300"/>
                <a:ext cx="26193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0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Bezpośredni czat i kontakt</a:t>
                </a:r>
                <a:endParaRPr b="0" sz="8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210" name="Google Shape;210;h5c15776ce21187b9_10_1801"/>
            <p:cNvSpPr/>
            <p:nvPr/>
          </p:nvSpPr>
          <p:spPr>
            <a:xfrm>
              <a:off x="114300" y="1333500"/>
              <a:ext cx="5391300" cy="781200"/>
            </a:xfrm>
            <a:prstGeom prst="roundRect">
              <a:avLst>
                <a:gd fmla="val 9754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h5c15776ce21187b9_10_1801"/>
            <p:cNvSpPr txBox="1"/>
            <p:nvPr/>
          </p:nvSpPr>
          <p:spPr>
            <a:xfrm>
              <a:off x="209550" y="1390650"/>
              <a:ext cx="52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Przykład: </a:t>
              </a: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Zamiast 2 dni dzwonienia, kierownik w kilku kliknięciach filtruje techników po certyfikatach i terminie, natychmiast budując ekipę.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h5c15776ce21187b9_10_1801"/>
          <p:cNvGrpSpPr/>
          <p:nvPr/>
        </p:nvGrpSpPr>
        <p:grpSpPr>
          <a:xfrm>
            <a:off x="476250" y="3257550"/>
            <a:ext cx="5334000" cy="819300"/>
            <a:chOff x="95250" y="95250"/>
            <a:chExt cx="5334000" cy="819300"/>
          </a:xfrm>
        </p:grpSpPr>
        <p:sp>
          <p:nvSpPr>
            <p:cNvPr id="213" name="Google Shape;213;h5c15776ce21187b9_10_1801"/>
            <p:cNvSpPr/>
            <p:nvPr/>
          </p:nvSpPr>
          <p:spPr>
            <a:xfrm>
              <a:off x="95250" y="95250"/>
              <a:ext cx="1714500" cy="819300"/>
            </a:xfrm>
            <a:prstGeom prst="roundRect">
              <a:avLst>
                <a:gd fmla="val 93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h5c15776ce21187b9_10_1801"/>
            <p:cNvSpPr txBox="1"/>
            <p:nvPr/>
          </p:nvSpPr>
          <p:spPr>
            <a:xfrm>
              <a:off x="171450" y="171450"/>
              <a:ext cx="1562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Błyskawiczny search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Filtrowanie kandydatów po certyfikatach, lokalizacji i kalendarzu</a:t>
              </a:r>
              <a:endParaRPr b="0" sz="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5" name="Google Shape;215;h5c15776ce21187b9_10_1801"/>
            <p:cNvSpPr/>
            <p:nvPr/>
          </p:nvSpPr>
          <p:spPr>
            <a:xfrm>
              <a:off x="1905000" y="95250"/>
              <a:ext cx="1714500" cy="819300"/>
            </a:xfrm>
            <a:prstGeom prst="roundRect">
              <a:avLst>
                <a:gd fmla="val 93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h5c15776ce21187b9_10_1801"/>
            <p:cNvSpPr txBox="1"/>
            <p:nvPr/>
          </p:nvSpPr>
          <p:spPr>
            <a:xfrm>
              <a:off x="1981200" y="171450"/>
              <a:ext cx="1562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Weryfikacja ekip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Pełen podgląd aktualnych uprawnień i doświadczenia specjalistów</a:t>
              </a:r>
              <a:endParaRPr b="0" sz="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h5c15776ce21187b9_10_1801"/>
            <p:cNvSpPr/>
            <p:nvPr/>
          </p:nvSpPr>
          <p:spPr>
            <a:xfrm>
              <a:off x="3714750" y="95250"/>
              <a:ext cx="1714500" cy="819300"/>
            </a:xfrm>
            <a:prstGeom prst="roundRect">
              <a:avLst>
                <a:gd fmla="val 93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h5c15776ce21187b9_10_1801"/>
            <p:cNvSpPr txBox="1"/>
            <p:nvPr/>
          </p:nvSpPr>
          <p:spPr>
            <a:xfrm>
              <a:off x="3790950" y="171450"/>
              <a:ext cx="1562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Skrócony czas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Szybka publikacja ogłoszeń i bezpośrednia komunikacja czat</a:t>
              </a:r>
              <a:endParaRPr b="0" sz="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h5c15776ce21187b9_10_1801"/>
          <p:cNvGrpSpPr/>
          <p:nvPr/>
        </p:nvGrpSpPr>
        <p:grpSpPr>
          <a:xfrm>
            <a:off x="381000" y="4267200"/>
            <a:ext cx="5619900" cy="362100"/>
            <a:chOff x="0" y="0"/>
            <a:chExt cx="5619900" cy="362100"/>
          </a:xfrm>
        </p:grpSpPr>
        <p:sp>
          <p:nvSpPr>
            <p:cNvPr id="220" name="Google Shape;220;h5c15776ce21187b9_10_1801"/>
            <p:cNvSpPr/>
            <p:nvPr/>
          </p:nvSpPr>
          <p:spPr>
            <a:xfrm>
              <a:off x="0" y="0"/>
              <a:ext cx="5619900" cy="362100"/>
            </a:xfrm>
            <a:prstGeom prst="roundRect">
              <a:avLst>
                <a:gd fmla="val 49978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h5c15776ce21187b9_10_1801"/>
            <p:cNvSpPr txBox="1"/>
            <p:nvPr/>
          </p:nvSpPr>
          <p:spPr>
            <a:xfrm>
              <a:off x="0" y="0"/>
              <a:ext cx="56199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l" sz="10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Właściwy technik </a:t>
              </a:r>
              <a:r>
                <a:rPr b="0" i="0" lang="pl" sz="105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→</a:t>
              </a:r>
              <a:r>
                <a:rPr b="0" i="0" lang="pl" sz="10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Właściwe zlecenie </a:t>
              </a:r>
              <a:r>
                <a:rPr b="0" i="0" lang="pl" sz="105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→</a:t>
              </a:r>
              <a:r>
                <a:rPr b="0" i="0" lang="pl" sz="10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We właściwym czasie</a:t>
              </a:r>
              <a:endParaRPr b="0" i="0" sz="10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2" name="Google Shape;222;h5c15776ce21187b9_10_1801"/>
          <p:cNvGrpSpPr/>
          <p:nvPr/>
        </p:nvGrpSpPr>
        <p:grpSpPr>
          <a:xfrm>
            <a:off x="6210300" y="171450"/>
            <a:ext cx="2095500" cy="4648200"/>
            <a:chOff x="-19050" y="-19050"/>
            <a:chExt cx="2095500" cy="4648200"/>
          </a:xfrm>
        </p:grpSpPr>
        <p:sp>
          <p:nvSpPr>
            <p:cNvPr id="223" name="Google Shape;223;h5c15776ce21187b9_10_1801"/>
            <p:cNvSpPr/>
            <p:nvPr/>
          </p:nvSpPr>
          <p:spPr>
            <a:xfrm>
              <a:off x="-19050" y="-19050"/>
              <a:ext cx="2095500" cy="4648200"/>
            </a:xfrm>
            <a:prstGeom prst="roundRect">
              <a:avLst>
                <a:gd fmla="val 10909" name="adj"/>
              </a:avLst>
            </a:prstGeom>
            <a:solidFill>
              <a:srgbClr val="0F172A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h5c15776ce21187b9_10_1801"/>
            <p:cNvGrpSpPr/>
            <p:nvPr/>
          </p:nvGrpSpPr>
          <p:grpSpPr>
            <a:xfrm>
              <a:off x="0" y="0"/>
              <a:ext cx="2057400" cy="4610100"/>
              <a:chOff x="0" y="0"/>
              <a:chExt cx="2057400" cy="4610100"/>
            </a:xfrm>
          </p:grpSpPr>
          <p:sp>
            <p:nvSpPr>
              <p:cNvPr id="225" name="Google Shape;225;h5c15776ce21187b9_10_1801"/>
              <p:cNvSpPr/>
              <p:nvPr/>
            </p:nvSpPr>
            <p:spPr>
              <a:xfrm>
                <a:off x="0" y="0"/>
                <a:ext cx="2057400" cy="4610100"/>
              </a:xfrm>
              <a:prstGeom prst="roundRect">
                <a:avLst>
                  <a:gd fmla="val 10185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26" name="Google Shape;226;h5c15776ce21187b9_10_180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6675" y="66675"/>
                <a:ext cx="1924200" cy="447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27" name="Google Shape;227;h5c15776ce21187b9_10_1801" title="szukanie-technik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779" y="210346"/>
            <a:ext cx="2031300" cy="4571100"/>
          </a:xfrm>
          <a:prstGeom prst="roundRect">
            <a:avLst>
              <a:gd fmla="val 981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386d3d9a51381266_27_173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h386d3d9a51381266_27_173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h386d3d9a51381266_27_173"/>
          <p:cNvGrpSpPr/>
          <p:nvPr/>
        </p:nvGrpSpPr>
        <p:grpSpPr>
          <a:xfrm>
            <a:off x="381000" y="190500"/>
            <a:ext cx="1714500" cy="209700"/>
            <a:chOff x="0" y="0"/>
            <a:chExt cx="1714500" cy="209700"/>
          </a:xfrm>
        </p:grpSpPr>
        <p:sp>
          <p:nvSpPr>
            <p:cNvPr id="235" name="Google Shape;235;h386d3d9a51381266_27_173"/>
            <p:cNvSpPr/>
            <p:nvPr/>
          </p:nvSpPr>
          <p:spPr>
            <a:xfrm>
              <a:off x="0" y="0"/>
              <a:ext cx="17145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h386d3d9a51381266_27_173"/>
            <p:cNvSpPr txBox="1"/>
            <p:nvPr/>
          </p:nvSpPr>
          <p:spPr>
            <a:xfrm>
              <a:off x="0" y="0"/>
              <a:ext cx="1714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ROZWIAZANIE / PRODUKT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7" name="Google Shape;237;h386d3d9a51381266_27_173"/>
          <p:cNvSpPr txBox="1"/>
          <p:nvPr/>
        </p:nvSpPr>
        <p:spPr>
          <a:xfrm>
            <a:off x="381000" y="457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FRAT Desktop: Precyzyjne </a:t>
            </a:r>
            <a:r>
              <a:rPr b="0" lang="pl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wyszukiwanie i podgląd</a:t>
            </a:r>
            <a:r>
              <a:rPr b="0" lang="pl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w jednym widoku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38" name="Google Shape;238;h386d3d9a51381266_27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58" y="819000"/>
            <a:ext cx="8678100" cy="4169100"/>
          </a:xfrm>
          <a:prstGeom prst="roundRect">
            <a:avLst>
              <a:gd fmla="val 562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386d3d9a51381266_27_346"/>
          <p:cNvSpPr/>
          <p:nvPr/>
        </p:nvSpPr>
        <p:spPr>
          <a:xfrm>
            <a:off x="-468143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386d3d9a51381266_27_346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h386d3d9a51381266_27_346"/>
          <p:cNvGrpSpPr/>
          <p:nvPr/>
        </p:nvGrpSpPr>
        <p:grpSpPr>
          <a:xfrm>
            <a:off x="292043" y="190500"/>
            <a:ext cx="2523000" cy="213170"/>
            <a:chOff x="-88957" y="0"/>
            <a:chExt cx="2523000" cy="213170"/>
          </a:xfrm>
        </p:grpSpPr>
        <p:sp>
          <p:nvSpPr>
            <p:cNvPr id="246" name="Google Shape;246;h386d3d9a51381266_27_346"/>
            <p:cNvSpPr/>
            <p:nvPr/>
          </p:nvSpPr>
          <p:spPr>
            <a:xfrm>
              <a:off x="0" y="0"/>
              <a:ext cx="23109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h386d3d9a51381266_27_346"/>
            <p:cNvSpPr txBox="1"/>
            <p:nvPr/>
          </p:nvSpPr>
          <p:spPr>
            <a:xfrm>
              <a:off x="-88957" y="3470"/>
              <a:ext cx="252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PIERWSZY SEGMENT / BEACHHEAD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8" name="Google Shape;248;h386d3d9a51381266_27_346"/>
          <p:cNvSpPr txBox="1"/>
          <p:nvPr/>
        </p:nvSpPr>
        <p:spPr>
          <a:xfrm>
            <a:off x="381000" y="457200"/>
            <a:ext cx="8382000" cy="3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Zaczynamy od </a:t>
            </a:r>
            <a:r>
              <a:rPr b="0" lang="pl" sz="15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dostępu linowego</a:t>
            </a: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i kompletowania zespołów projektowych</a:t>
            </a:r>
            <a:endParaRPr b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49" name="Google Shape;249;h386d3d9a51381266_27_346"/>
          <p:cNvGrpSpPr/>
          <p:nvPr/>
        </p:nvGrpSpPr>
        <p:grpSpPr>
          <a:xfrm>
            <a:off x="381000" y="904875"/>
            <a:ext cx="2628900" cy="3219600"/>
            <a:chOff x="0" y="0"/>
            <a:chExt cx="2628900" cy="3219600"/>
          </a:xfrm>
        </p:grpSpPr>
        <p:sp>
          <p:nvSpPr>
            <p:cNvPr id="250" name="Google Shape;250;h386d3d9a51381266_27_346"/>
            <p:cNvSpPr/>
            <p:nvPr/>
          </p:nvSpPr>
          <p:spPr>
            <a:xfrm>
              <a:off x="0" y="0"/>
              <a:ext cx="2628900" cy="3219600"/>
            </a:xfrm>
            <a:prstGeom prst="roundRect">
              <a:avLst>
                <a:gd fmla="val 5072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" name="Google Shape;251;h386d3d9a51381266_27_3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638" y="147638"/>
              <a:ext cx="390600" cy="3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h386d3d9a51381266_27_346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h386d3d9a51381266_27_346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Sieć Kontaktów &amp; Testy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Baza 300+ specjalistów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" name="Google Shape;254;h386d3d9a51381266_27_346"/>
            <p:cNvSpPr txBox="1"/>
            <p:nvPr/>
          </p:nvSpPr>
          <p:spPr>
            <a:xfrm>
              <a:off x="152400" y="685800"/>
              <a:ext cx="2324100" cy="23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Baza 300+ Specjalistów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Start w oparciu o prywatną sieć sprawdzonych kontaktów branżowych.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Testy &amp; Feedback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Wczesna walidacja funkcji oraz zbieranie uwag z pierwszej ręki.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Szybki Start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Bezpośrednie zaproszenia do testów i budowanie pierwszej bazy.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5" name="Google Shape;255;h386d3d9a51381266_27_346"/>
          <p:cNvGrpSpPr/>
          <p:nvPr/>
        </p:nvGrpSpPr>
        <p:grpSpPr>
          <a:xfrm>
            <a:off x="3257550" y="904875"/>
            <a:ext cx="2628900" cy="3219600"/>
            <a:chOff x="0" y="0"/>
            <a:chExt cx="2628900" cy="3219600"/>
          </a:xfrm>
        </p:grpSpPr>
        <p:sp>
          <p:nvSpPr>
            <p:cNvPr id="256" name="Google Shape;256;h386d3d9a51381266_27_346"/>
            <p:cNvSpPr/>
            <p:nvPr/>
          </p:nvSpPr>
          <p:spPr>
            <a:xfrm>
              <a:off x="0" y="0"/>
              <a:ext cx="2628900" cy="3219600"/>
            </a:xfrm>
            <a:prstGeom prst="roundRect">
              <a:avLst>
                <a:gd fmla="val 5072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7" name="Google Shape;257;h386d3d9a51381266_27_3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638" y="147638"/>
              <a:ext cx="390600" cy="3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h386d3d9a51381266_27_346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9" name="Google Shape;259;h386d3d9a51381266_27_346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Moduł Szkoleniowy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Ośrodki &amp; Zapisy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h386d3d9a51381266_27_346"/>
            <p:cNvSpPr txBox="1"/>
            <p:nvPr/>
          </p:nvSpPr>
          <p:spPr>
            <a:xfrm>
              <a:off x="152400" y="685800"/>
              <a:ext cx="2324100" cy="23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Promocja w Ośrodkach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Promocja aplikacji przez partnerstwa z ośrodkami certyfikacji.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Katalog &amp; Zapisy na Kursy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Wyszukiwanie odpowiednich szkoleń i możliwość zapisania się w aplikacji.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Synergia Ekosystemu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Stały kanał pozyskiwania nowych kursantów i techników.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h386d3d9a51381266_27_346"/>
          <p:cNvGrpSpPr/>
          <p:nvPr/>
        </p:nvGrpSpPr>
        <p:grpSpPr>
          <a:xfrm>
            <a:off x="6134100" y="904875"/>
            <a:ext cx="2628900" cy="3219600"/>
            <a:chOff x="0" y="0"/>
            <a:chExt cx="2628900" cy="3219600"/>
          </a:xfrm>
        </p:grpSpPr>
        <p:sp>
          <p:nvSpPr>
            <p:cNvPr id="262" name="Google Shape;262;h386d3d9a51381266_27_346"/>
            <p:cNvSpPr/>
            <p:nvPr/>
          </p:nvSpPr>
          <p:spPr>
            <a:xfrm>
              <a:off x="0" y="0"/>
              <a:ext cx="2628900" cy="3219600"/>
            </a:xfrm>
            <a:prstGeom prst="roundRect">
              <a:avLst>
                <a:gd fmla="val 5072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3" name="Google Shape;263;h386d3d9a51381266_27_3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638" y="147638"/>
              <a:ext cx="390600" cy="3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h386d3d9a51381266_27_346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5" name="Google Shape;265;h386d3d9a51381266_27_346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Rozmowy w Trójmieście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Partnerstwa B2B &amp; Pilotaż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" name="Google Shape;266;h386d3d9a51381266_27_346"/>
            <p:cNvSpPr txBox="1"/>
            <p:nvPr/>
          </p:nvSpPr>
          <p:spPr>
            <a:xfrm>
              <a:off x="152400" y="685800"/>
              <a:ext cx="2324100" cy="23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Przemysł Stoczniowy &amp; Porty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Bezpośrednie rozmowy z firmami stoczniowymi, portowymi i offshore w Gdańsku oraz Gdyni.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Energetyka Wiatrowa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Dotarcie do kluczowych graczy z sektora wind energy i serwisu infrastruktury.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Partnerstwa &amp; Oczekiwania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Poznanie wymagań rekrutacyjnych B2B oraz uzgodnienie warunków pierwszych pilotaży.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7" name="Google Shape;267;h386d3d9a51381266_27_346"/>
          <p:cNvGrpSpPr/>
          <p:nvPr/>
        </p:nvGrpSpPr>
        <p:grpSpPr>
          <a:xfrm>
            <a:off x="381000" y="4238625"/>
            <a:ext cx="8382000" cy="400200"/>
            <a:chOff x="0" y="0"/>
            <a:chExt cx="8382000" cy="400200"/>
          </a:xfrm>
        </p:grpSpPr>
        <p:sp>
          <p:nvSpPr>
            <p:cNvPr id="268" name="Google Shape;268;h386d3d9a51381266_27_346"/>
            <p:cNvSpPr/>
            <p:nvPr/>
          </p:nvSpPr>
          <p:spPr>
            <a:xfrm>
              <a:off x="0" y="0"/>
              <a:ext cx="8382000" cy="4002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h386d3d9a51381266_27_346"/>
            <p:cNvSpPr txBox="1"/>
            <p:nvPr/>
          </p:nvSpPr>
          <p:spPr>
            <a:xfrm>
              <a:off x="0" y="0"/>
              <a:ext cx="8382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0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Chcemy być wszędzie tam, gdzie jest </a:t>
              </a:r>
              <a:r>
                <a:rPr b="0" lang="pl" sz="105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praca na wysokości</a:t>
              </a:r>
              <a:r>
                <a:rPr b="0" lang="pl" sz="10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i wymagane są </a:t>
              </a:r>
              <a:r>
                <a:rPr b="0" lang="pl" sz="105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specjalistyczne uprawnienia</a:t>
              </a:r>
              <a:endParaRPr b="0" sz="10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386d3d9a51381266_27_1804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386d3d9a51381266_27_1804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h386d3d9a51381266_27_1804"/>
          <p:cNvGrpSpPr/>
          <p:nvPr/>
        </p:nvGrpSpPr>
        <p:grpSpPr>
          <a:xfrm>
            <a:off x="381000" y="190500"/>
            <a:ext cx="2000100" cy="209700"/>
            <a:chOff x="0" y="0"/>
            <a:chExt cx="2000100" cy="209700"/>
          </a:xfrm>
        </p:grpSpPr>
        <p:sp>
          <p:nvSpPr>
            <p:cNvPr id="277" name="Google Shape;277;h386d3d9a51381266_27_1804"/>
            <p:cNvSpPr/>
            <p:nvPr/>
          </p:nvSpPr>
          <p:spPr>
            <a:xfrm>
              <a:off x="0" y="0"/>
              <a:ext cx="20001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h386d3d9a51381266_27_1804"/>
            <p:cNvSpPr txBox="1"/>
            <p:nvPr/>
          </p:nvSpPr>
          <p:spPr>
            <a:xfrm>
              <a:off x="0" y="0"/>
              <a:ext cx="20001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RYNEK EUROPEJSKI / OPPORTUNITY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9" name="Google Shape;279;h386d3d9a51381266_27_1804"/>
          <p:cNvSpPr txBox="1"/>
          <p:nvPr/>
        </p:nvSpPr>
        <p:spPr>
          <a:xfrm>
            <a:off x="381000" y="457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Europa potrzebuje wykwalifikowanych </a:t>
            </a:r>
            <a:r>
              <a:rPr b="0" lang="pl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specjalistów wysokościowych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80" name="Google Shape;280;h386d3d9a51381266_27_1804"/>
          <p:cNvGrpSpPr/>
          <p:nvPr/>
        </p:nvGrpSpPr>
        <p:grpSpPr>
          <a:xfrm>
            <a:off x="381000" y="904875"/>
            <a:ext cx="2628900" cy="3952800"/>
            <a:chOff x="0" y="0"/>
            <a:chExt cx="2628900" cy="3952800"/>
          </a:xfrm>
        </p:grpSpPr>
        <p:sp>
          <p:nvSpPr>
            <p:cNvPr id="281" name="Google Shape;281;h386d3d9a51381266_27_1804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h386d3d9a51381266_27_1804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h386d3d9a51381266_27_1804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wind_power</a:t>
              </a:r>
              <a:endParaRPr b="0"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4" name="Google Shape;284;h386d3d9a51381266_27_1804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Energetyka Wiatrowa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Offshore &amp; Onshore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5" name="Google Shape;285;h386d3d9a51381266_27_1804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180k / 443k</a:t>
              </a:r>
              <a:endParaRPr b="0" sz="2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miejsc pracy w europejskiej energetyce wiatrowej (prognoza 607k do 2030)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[WindEurope]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Wartość Sektora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26 mld EUR generowane przez sam sektor offshore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[BalticWind]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Kluczowy Rynek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Niemcy: ponad 31,5k miejsc pracy przy morskich farmach wiatrowych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[BWO]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h386d3d9a51381266_27_1804"/>
          <p:cNvGrpSpPr/>
          <p:nvPr/>
        </p:nvGrpSpPr>
        <p:grpSpPr>
          <a:xfrm>
            <a:off x="3257550" y="904875"/>
            <a:ext cx="2628900" cy="3952800"/>
            <a:chOff x="0" y="0"/>
            <a:chExt cx="2628900" cy="3952800"/>
          </a:xfrm>
        </p:grpSpPr>
        <p:sp>
          <p:nvSpPr>
            <p:cNvPr id="287" name="Google Shape;287;h386d3d9a51381266_27_1804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h386d3d9a51381266_27_1804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h386d3d9a51381266_27_1804"/>
            <p:cNvSpPr txBox="1"/>
            <p:nvPr/>
          </p:nvSpPr>
          <p:spPr>
            <a:xfrm>
              <a:off x="152400" y="21082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l" sz="2000" u="none" strike="noStrike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factory</a:t>
              </a:r>
              <a:endParaRPr b="0" i="0" sz="2000" u="none" strike="noStrike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0" name="Google Shape;290;h386d3d9a51381266_27_1804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Przemysł &amp; Oil &amp; Gas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Inspekcje i Konserwacja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1" name="Google Shape;291;h386d3d9a51381266_27_1804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&gt; 65%</a:t>
              </a:r>
              <a:endParaRPr b="0" sz="2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rynku prac wysokościowych generuje przemysł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[Grand View Research]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Lider Sektora Oil &amp; Gas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Europa odpowiada za 28.4% globalnych przychodów w sektorze wydobywczym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[Dataintelo]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Godziny Pracy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33.6 mln przepracowanych godzin rocznie przez techników IRATA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[Raport IRATA]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2" name="Google Shape;292;h386d3d9a51381266_27_1804"/>
          <p:cNvGrpSpPr/>
          <p:nvPr/>
        </p:nvGrpSpPr>
        <p:grpSpPr>
          <a:xfrm>
            <a:off x="6134100" y="904875"/>
            <a:ext cx="2628900" cy="3952800"/>
            <a:chOff x="0" y="0"/>
            <a:chExt cx="2628900" cy="3952800"/>
          </a:xfrm>
        </p:grpSpPr>
        <p:sp>
          <p:nvSpPr>
            <p:cNvPr id="293" name="Google Shape;293;h386d3d9a51381266_27_1804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h386d3d9a51381266_27_1804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h386d3d9a51381266_27_1804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flag</a:t>
              </a:r>
              <a:endParaRPr b="0"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6" name="Google Shape;296;h386d3d9a51381266_27_1804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Rola Polski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Główne Źródło Siły Roboczej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h386d3d9a51381266_27_1804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l" sz="2200" u="none" strike="noStrike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Hub Kadrowy</a:t>
              </a:r>
              <a:endParaRPr b="0" i="0" sz="220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pl" sz="850" u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Polska to strategiczny dostawca wykwalifikowanych techników (IRATA, SPRAT, GWO) do UE </a:t>
              </a:r>
              <a:r>
                <a:rPr b="0" i="0" lang="pl" sz="850" u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[IRATA / WindEurope]</a:t>
              </a:r>
              <a:endParaRPr b="0" i="0" sz="85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i="0" lang="pl" sz="100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Praca Rotacyjna</a:t>
              </a:r>
              <a:endParaRPr b="0" i="0" sz="100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pl" sz="850" u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Kluczowa siła robocza w projektach offshore i przemysłowych w DE, NO i UK </a:t>
              </a:r>
              <a:r>
                <a:rPr b="0" i="0" lang="pl" sz="850" u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[Raport IRATA]</a:t>
              </a:r>
              <a:endParaRPr b="0" i="0" sz="85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i="0" lang="pl" sz="100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Lokalny Rozwój</a:t>
              </a:r>
              <a:endParaRPr b="0" i="0" sz="100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pl" sz="850" u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Baltic Offshore wygeneruje ok. 34 000 nowych miejsc pracy w Polsce </a:t>
              </a:r>
              <a:r>
                <a:rPr b="0" i="0" lang="pl" sz="850" u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[BalticWind]</a:t>
              </a:r>
              <a:endParaRPr b="0" i="0" sz="850" u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386d3d9a51381266_27_2809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386d3d9a51381266_27_2809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" name="Google Shape;304;h386d3d9a51381266_27_2809"/>
          <p:cNvGrpSpPr/>
          <p:nvPr/>
        </p:nvGrpSpPr>
        <p:grpSpPr>
          <a:xfrm>
            <a:off x="381000" y="190500"/>
            <a:ext cx="1714500" cy="209700"/>
            <a:chOff x="0" y="0"/>
            <a:chExt cx="1714500" cy="209700"/>
          </a:xfrm>
        </p:grpSpPr>
        <p:sp>
          <p:nvSpPr>
            <p:cNvPr id="305" name="Google Shape;305;h386d3d9a51381266_27_2809"/>
            <p:cNvSpPr/>
            <p:nvPr/>
          </p:nvSpPr>
          <p:spPr>
            <a:xfrm>
              <a:off x="0" y="0"/>
              <a:ext cx="17145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h386d3d9a51381266_27_2809"/>
            <p:cNvSpPr txBox="1"/>
            <p:nvPr/>
          </p:nvSpPr>
          <p:spPr>
            <a:xfrm>
              <a:off x="0" y="0"/>
              <a:ext cx="1714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DLACZEGO TERAZ / WHY NOW?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7" name="Google Shape;307;h386d3d9a51381266_27_2809"/>
          <p:cNvSpPr txBox="1"/>
          <p:nvPr/>
        </p:nvSpPr>
        <p:spPr>
          <a:xfrm>
            <a:off x="381000" y="43815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Popyt rośnie — ale </a:t>
            </a:r>
            <a:r>
              <a:rPr b="0" lang="pl" sz="15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dostęp do wykwalifikowanych ekip</a:t>
            </a: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jest wciąż rozproszony</a:t>
            </a:r>
            <a:endParaRPr b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08" name="Google Shape;308;h386d3d9a51381266_27_2809"/>
          <p:cNvGrpSpPr/>
          <p:nvPr/>
        </p:nvGrpSpPr>
        <p:grpSpPr>
          <a:xfrm>
            <a:off x="381000" y="904875"/>
            <a:ext cx="2628900" cy="3952800"/>
            <a:chOff x="0" y="0"/>
            <a:chExt cx="2628900" cy="3952800"/>
          </a:xfrm>
        </p:grpSpPr>
        <p:sp>
          <p:nvSpPr>
            <p:cNvPr id="309" name="Google Shape;309;h386d3d9a51381266_27_2809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h386d3d9a51381266_27_2809"/>
            <p:cNvSpPr/>
            <p:nvPr/>
          </p:nvSpPr>
          <p:spPr>
            <a:xfrm>
              <a:off x="152400" y="152400"/>
              <a:ext cx="419100" cy="419100"/>
            </a:xfrm>
            <a:prstGeom prst="roundRect">
              <a:avLst>
                <a:gd fmla="val 27272" name="adj"/>
              </a:avLst>
            </a:prstGeom>
            <a:solidFill>
              <a:srgbClr val="0EA5E9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h386d3d9a51381266_27_2809"/>
            <p:cNvSpPr txBox="1"/>
            <p:nvPr/>
          </p:nvSpPr>
          <p:spPr>
            <a:xfrm>
              <a:off x="152400" y="184531"/>
              <a:ext cx="4191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b="0" sz="2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2" name="Google Shape;312;h386d3d9a51381266_27_2809"/>
            <p:cNvSpPr txBox="1"/>
            <p:nvPr/>
          </p:nvSpPr>
          <p:spPr>
            <a:xfrm>
              <a:off x="666750" y="152400"/>
              <a:ext cx="18096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Dynamiczny Wzrost Wind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Wiatrakowa Transformacja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3" name="Google Shape;313;h386d3d9a51381266_27_2809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443k → 607k</a:t>
              </a:r>
              <a:endParaRPr b="0" sz="2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miejsc pracy w europejskiej branży wiatrowej do 2030 r. (+164 tys. nowych etatów).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[WindEurope]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Potrzeba Rynku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Gwałtowny wzrost zatrudnienia potęguje konieczność sprawnego docierania do wyspecjalizowanych i certyfikowanych ekip.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Presja Czasu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Brak wykwalifikowanych pracowników wymusza cyfryzację rekrutacji.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4" name="Google Shape;314;h386d3d9a51381266_27_2809"/>
          <p:cNvGrpSpPr/>
          <p:nvPr/>
        </p:nvGrpSpPr>
        <p:grpSpPr>
          <a:xfrm>
            <a:off x="3257550" y="904875"/>
            <a:ext cx="2628900" cy="3952800"/>
            <a:chOff x="0" y="0"/>
            <a:chExt cx="2628900" cy="3952800"/>
          </a:xfrm>
        </p:grpSpPr>
        <p:sp>
          <p:nvSpPr>
            <p:cNvPr id="315" name="Google Shape;315;h386d3d9a51381266_27_2809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h386d3d9a51381266_27_2809"/>
            <p:cNvSpPr/>
            <p:nvPr/>
          </p:nvSpPr>
          <p:spPr>
            <a:xfrm>
              <a:off x="152400" y="152400"/>
              <a:ext cx="419100" cy="419100"/>
            </a:xfrm>
            <a:prstGeom prst="roundRect">
              <a:avLst>
                <a:gd fmla="val 27272" name="adj"/>
              </a:avLst>
            </a:prstGeom>
            <a:solidFill>
              <a:srgbClr val="0EA5E9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h386d3d9a51381266_27_2809"/>
            <p:cNvSpPr txBox="1"/>
            <p:nvPr/>
          </p:nvSpPr>
          <p:spPr>
            <a:xfrm>
              <a:off x="152400" y="184531"/>
              <a:ext cx="4191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b="0" sz="2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8" name="Google Shape;318;h386d3d9a51381266_27_2809"/>
            <p:cNvSpPr txBox="1"/>
            <p:nvPr/>
          </p:nvSpPr>
          <p:spPr>
            <a:xfrm>
              <a:off x="666750" y="152400"/>
              <a:ext cx="18096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Mobilność Offshore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Praca Projektowa i Rotacje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9" name="Google Shape;319;h386d3d9a51381266_27_2809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180 000</a:t>
              </a:r>
              <a:endParaRPr b="0" sz="2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miejsc pracy w europejskim sektorze offshore wymagającym pracy wyjazdowej.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[BalticWind]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Wielokompetencyjność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Projekty offshore łączą rygorystyczne wymogi certyfikatów (IRATA + GWO) z dyspozycyjnością.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Wymóg Dostępności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Sama baza CV nie odpowiada na pytanie, kto ma aktualne uprawnienia i jest wolny w danym terminie.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0" name="Google Shape;320;h386d3d9a51381266_27_2809"/>
          <p:cNvGrpSpPr/>
          <p:nvPr/>
        </p:nvGrpSpPr>
        <p:grpSpPr>
          <a:xfrm>
            <a:off x="6124575" y="895350"/>
            <a:ext cx="2648100" cy="3972000"/>
            <a:chOff x="-9525" y="-9525"/>
            <a:chExt cx="2648100" cy="3972000"/>
          </a:xfrm>
        </p:grpSpPr>
        <p:pic>
          <p:nvPicPr>
            <p:cNvPr id="321" name="Google Shape;321;h386d3d9a51381266_27_28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2648100" cy="3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h386d3d9a51381266_27_2809"/>
            <p:cNvSpPr/>
            <p:nvPr/>
          </p:nvSpPr>
          <p:spPr>
            <a:xfrm>
              <a:off x="152400" y="152400"/>
              <a:ext cx="419100" cy="419100"/>
            </a:xfrm>
            <a:prstGeom prst="roundRect">
              <a:avLst>
                <a:gd fmla="val 27272" name="adj"/>
              </a:avLst>
            </a:prstGeom>
            <a:solidFill>
              <a:srgbClr val="0EA5E9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h386d3d9a51381266_27_2809"/>
            <p:cNvSpPr txBox="1"/>
            <p:nvPr/>
          </p:nvSpPr>
          <p:spPr>
            <a:xfrm>
              <a:off x="152400" y="184531"/>
              <a:ext cx="4191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anchor</a:t>
              </a:r>
              <a:endParaRPr b="0" sz="2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4" name="Google Shape;324;h386d3d9a51381266_27_2809"/>
            <p:cNvSpPr txBox="1"/>
            <p:nvPr/>
          </p:nvSpPr>
          <p:spPr>
            <a:xfrm>
              <a:off x="666750" y="152400"/>
              <a:ext cx="18096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Sektor Bałtycki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Lokalny Rozwój &amp; Podaż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5" name="Google Shape;325;h386d3d9a51381266_27_2809"/>
            <p:cNvSpPr txBox="1"/>
            <p:nvPr/>
          </p:nvSpPr>
          <p:spPr>
            <a:xfrm>
              <a:off x="152400" y="685800"/>
              <a:ext cx="23241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+34 000</a:t>
              </a:r>
              <a:endParaRPr b="0" sz="22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nowych miejsc pracy przy instalacji i budowie polskich farm morskich. </a:t>
              </a:r>
              <a:r>
                <a:rPr b="0" lang="pl" sz="8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[BalticWind]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Baza Specjalistów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Polscy technicy to kluczowe ogniwo na projektach w DE, NO i UK – potrzebują sprawniejszego kanału.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Rola FRAT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Porządkujemy proces łączenia konkretnych kompetencji z projektami w momencie rosnącego popytu.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386d3d9a51381266_27_3200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h386d3d9a51381266_27_3200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h386d3d9a51381266_27_3200"/>
          <p:cNvGrpSpPr/>
          <p:nvPr/>
        </p:nvGrpSpPr>
        <p:grpSpPr>
          <a:xfrm>
            <a:off x="381000" y="181250"/>
            <a:ext cx="1714500" cy="255900"/>
            <a:chOff x="0" y="-9250"/>
            <a:chExt cx="1714500" cy="255900"/>
          </a:xfrm>
        </p:grpSpPr>
        <p:sp>
          <p:nvSpPr>
            <p:cNvPr id="333" name="Google Shape;333;h386d3d9a51381266_27_3200"/>
            <p:cNvSpPr/>
            <p:nvPr/>
          </p:nvSpPr>
          <p:spPr>
            <a:xfrm>
              <a:off x="0" y="0"/>
              <a:ext cx="17145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h386d3d9a51381266_27_3200"/>
            <p:cNvSpPr txBox="1"/>
            <p:nvPr/>
          </p:nvSpPr>
          <p:spPr>
            <a:xfrm>
              <a:off x="337150" y="-9250"/>
              <a:ext cx="1179900" cy="25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55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ŹRÓDŁA DANYCH</a:t>
              </a:r>
              <a:endParaRPr b="1" sz="55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5" name="Google Shape;335;h386d3d9a51381266_27_3200"/>
          <p:cNvSpPr txBox="1"/>
          <p:nvPr/>
        </p:nvSpPr>
        <p:spPr>
          <a:xfrm>
            <a:off x="381000" y="809458"/>
            <a:ext cx="83820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WindEurope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Raport o zatrudnieniu i prognozie 607k miejsc pracy w energetyce wiatrowej.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3"/>
              </a:rPr>
              <a:t>windeurope.org/data/products/europes-wind-energy-workforce-report/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BalticWind.EU — Offshore Study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Dane o 180k miejscach pracy i 26 mld EUR wartości europejskiego offshore.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4"/>
              </a:rPr>
              <a:t>balticwind.eu/european-offshore-wind-supported-180000-jobs-and-eur-26-billion-in-value-in-2025-study-finds/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BWO (Bundesverband Windenergie Offshore)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Wyniki badania wind:research ws. etatów w niemieckim sektorze offshore.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5"/>
              </a:rPr>
              <a:t>bwo-offshorewind.de/en/pressemitteilung-offshore-windenergie-schafft-ueber-31-000-vollzeitstellen-und-146-milliarden-euro-wertschoepfung-in-deutschland/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Grand View Research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Raport rynkowy analizujący wielkość i wzrost branży usług rope access.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6"/>
              </a:rPr>
              <a:t>www.grandviewresearch.com/industry-analysis/rope-access-services-market-report</a:t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Dataintelo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Szacunki udziału Europy (28.4%) w segmencie rope access dla Oil &amp; Gas.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7"/>
              </a:rPr>
              <a:t>dataintelo.com/report/rope-access-services-in-oil-and-gas-market</a:t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IRATA International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Raporty Work &amp; Safety Analysis (WASA 2024 — 33.6 mln h pracy).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8"/>
              </a:rPr>
              <a:t>tech.irata.org/page/work-safety-analysis-reports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BalticWind.EU — Local Content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Analiza polskiego łańcucha dostaw i potencjału rozwoju rynku offshore.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9"/>
              </a:rPr>
              <a:t>balticwind.eu/local-content-in-polish-offshore-wind-from-pledge-to-purchase-order/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pl" sz="9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Polskie Stowarzyszenie Energetyki Wiatrowej (PSEW) </a:t>
            </a:r>
            <a:r>
              <a:rPr b="0" lang="pl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Główna organizacja branżowa analizująca potencjał rynku wiatrowego w PL.</a:t>
            </a:r>
            <a:endParaRPr b="1" sz="9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150"/>
              </a:spcAft>
              <a:buNone/>
            </a:pPr>
            <a:r>
              <a:rPr b="0" lang="pl" sz="8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10"/>
              </a:rPr>
              <a:t>psew.pl</a:t>
            </a:r>
            <a:endParaRPr b="0" sz="800">
              <a:solidFill>
                <a:srgbClr val="38BDF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6" name="Google Shape;336;h386d3d9a51381266_27_3200"/>
          <p:cNvSpPr txBox="1"/>
          <p:nvPr/>
        </p:nvSpPr>
        <p:spPr>
          <a:xfrm>
            <a:off x="381000" y="45720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Źródła danych rynkowych i raportów branżowych </a:t>
            </a:r>
            <a:r>
              <a:rPr b="0" lang="pl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[Spis linków do analiz]</a:t>
            </a:r>
            <a:endParaRPr b="0" sz="1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386d3d9a51381266_27_3742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h386d3d9a51381266_27_3742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h386d3d9a51381266_27_3742"/>
          <p:cNvGrpSpPr/>
          <p:nvPr/>
        </p:nvGrpSpPr>
        <p:grpSpPr>
          <a:xfrm>
            <a:off x="381000" y="190500"/>
            <a:ext cx="2000100" cy="209700"/>
            <a:chOff x="0" y="0"/>
            <a:chExt cx="2000100" cy="209700"/>
          </a:xfrm>
        </p:grpSpPr>
        <p:sp>
          <p:nvSpPr>
            <p:cNvPr id="344" name="Google Shape;344;h386d3d9a51381266_27_3742"/>
            <p:cNvSpPr/>
            <p:nvPr/>
          </p:nvSpPr>
          <p:spPr>
            <a:xfrm>
              <a:off x="0" y="0"/>
              <a:ext cx="20001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h386d3d9a51381266_27_3742"/>
            <p:cNvSpPr txBox="1"/>
            <p:nvPr/>
          </p:nvSpPr>
          <p:spPr>
            <a:xfrm>
              <a:off x="0" y="0"/>
              <a:ext cx="20001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KONKURENCJA / ALTERNATYWY</a:t>
              </a:r>
              <a:endParaRPr b="1" i="0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6" name="Google Shape;346;h386d3d9a51381266_27_3742"/>
          <p:cNvSpPr txBox="1"/>
          <p:nvPr/>
        </p:nvSpPr>
        <p:spPr>
          <a:xfrm>
            <a:off x="381000" y="438150"/>
            <a:ext cx="838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Dziś branża polega na </a:t>
            </a:r>
            <a:r>
              <a:rPr b="0" lang="pl" sz="15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ogólnych narzędziach</a:t>
            </a: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i sieci kontaktów</a:t>
            </a:r>
            <a:endParaRPr b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47" name="Google Shape;347;h386d3d9a51381266_27_3742"/>
          <p:cNvGrpSpPr/>
          <p:nvPr/>
        </p:nvGrpSpPr>
        <p:grpSpPr>
          <a:xfrm>
            <a:off x="381000" y="904875"/>
            <a:ext cx="2628900" cy="3952800"/>
            <a:chOff x="0" y="0"/>
            <a:chExt cx="2628900" cy="3952800"/>
          </a:xfrm>
        </p:grpSpPr>
        <p:sp>
          <p:nvSpPr>
            <p:cNvPr id="348" name="Google Shape;348;h386d3d9a51381266_27_3742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h386d3d9a51381266_27_3742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h386d3d9a51381266_27_3742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b="0"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1" name="Google Shape;351;h386d3d9a51381266_27_3742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Ogólne Kanały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Facebook, LinkedIn, Portale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2" name="Google Shape;352;h386d3d9a51381266_27_3742"/>
            <p:cNvSpPr txBox="1"/>
            <p:nvPr/>
          </p:nvSpPr>
          <p:spPr>
            <a:xfrm>
              <a:off x="152400" y="723900"/>
              <a:ext cx="23241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Grupy FB i Komunikatory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Chaos informacyjny, brak możliwości weryfikacji certyfikatów i filtrowania po terminach.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Ogólne Portale Prac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Brak zrozumienia specyfiki rope access, brak kontekstu mobilności i ważności uprawnień.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Agencje Rekrutacyjne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Wysokie koszty i powolne kompletowanie zespołów na gwałtowne zapotrzebowanie projektowe.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3" name="Google Shape;353;h386d3d9a51381266_27_3742"/>
          <p:cNvGrpSpPr/>
          <p:nvPr/>
        </p:nvGrpSpPr>
        <p:grpSpPr>
          <a:xfrm>
            <a:off x="3257550" y="904875"/>
            <a:ext cx="2628900" cy="3952800"/>
            <a:chOff x="0" y="0"/>
            <a:chExt cx="2628900" cy="3952800"/>
          </a:xfrm>
        </p:grpSpPr>
        <p:sp>
          <p:nvSpPr>
            <p:cNvPr id="354" name="Google Shape;354;h386d3d9a51381266_27_3742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h386d3d9a51381266_27_3742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h386d3d9a51381266_27_3742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b="0"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7" name="Google Shape;357;h386d3d9a51381266_27_3742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Rope Access Network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ropeaccess.network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8" name="Google Shape;358;h386d3d9a51381266_27_3742"/>
            <p:cNvSpPr txBox="1"/>
            <p:nvPr/>
          </p:nvSpPr>
          <p:spPr>
            <a:xfrm>
              <a:off x="152400" y="723900"/>
              <a:ext cx="23241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Dedykowana platforma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Pozornie podobny koncept — sieć społecznościowa stworzona dla branży.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Ograniczony Zasięg (~500 osób)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Wąska baza użytkowników i brak skali potrzebnej firmom do szybkiego kompletowania ekip.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Brak Bieżącej Dostępności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Statyczny profil społecznościowy nie informuje, kto ma ważny certyfikat i jest wolny "od zaraz".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9" name="Google Shape;359;h386d3d9a51381266_27_3742"/>
          <p:cNvGrpSpPr/>
          <p:nvPr/>
        </p:nvGrpSpPr>
        <p:grpSpPr>
          <a:xfrm>
            <a:off x="6134100" y="904875"/>
            <a:ext cx="2628900" cy="3952800"/>
            <a:chOff x="0" y="0"/>
            <a:chExt cx="2628900" cy="3952800"/>
          </a:xfrm>
        </p:grpSpPr>
        <p:sp>
          <p:nvSpPr>
            <p:cNvPr id="360" name="Google Shape;360;h386d3d9a51381266_27_3742"/>
            <p:cNvSpPr/>
            <p:nvPr/>
          </p:nvSpPr>
          <p:spPr>
            <a:xfrm>
              <a:off x="0" y="0"/>
              <a:ext cx="2628900" cy="3952800"/>
            </a:xfrm>
            <a:prstGeom prst="roundRect">
              <a:avLst>
                <a:gd fmla="val 5797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h386d3d9a51381266_27_3742"/>
            <p:cNvSpPr/>
            <p:nvPr/>
          </p:nvSpPr>
          <p:spPr>
            <a:xfrm>
              <a:off x="152400" y="15240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0EA5E9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h386d3d9a51381266_27_3742"/>
            <p:cNvSpPr txBox="1"/>
            <p:nvPr/>
          </p:nvSpPr>
          <p:spPr>
            <a:xfrm>
              <a:off x="152400" y="18161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b="0"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3" name="Google Shape;363;h386d3d9a51381266_27_3742"/>
            <p:cNvSpPr txBox="1"/>
            <p:nvPr/>
          </p:nvSpPr>
          <p:spPr>
            <a:xfrm>
              <a:off x="647700" y="152400"/>
              <a:ext cx="1828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1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Przewaga FRAT</a:t>
              </a:r>
              <a:endParaRPr b="0" sz="1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Dedykowana Infrastruktura</a:t>
              </a:r>
              <a:endParaRPr b="0" sz="8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64" name="Google Shape;364;h386d3d9a51381266_27_3742"/>
            <p:cNvSpPr txBox="1"/>
            <p:nvPr/>
          </p:nvSpPr>
          <p:spPr>
            <a:xfrm>
              <a:off x="152400" y="723900"/>
              <a:ext cx="23241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Precyzyjne Filtrowanie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Certyfikaty (IRATA/GWO/SPRAT), daty ważności, lokalizacja i okno dostępności.</a:t>
              </a:r>
              <a:endParaRPr b="0" sz="8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Mobilność i Czas Rzeczywisty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Zaprojektowane do szybkiego użycia w terenie z natychmiastowym czatem i powiadomieniami.</a:t>
              </a:r>
              <a:endParaRPr b="0" sz="8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pl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Ekosystem Branżowy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Integracja z ośrodkami szkoleniowymi, promocja kursów i budowanie wiarygodnych zespołów.</a:t>
              </a:r>
              <a:endParaRPr b="0" sz="8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386d3d9a51381266_27_4254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386d3d9a51381266_27_4254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h386d3d9a51381266_27_4254"/>
          <p:cNvGrpSpPr/>
          <p:nvPr/>
        </p:nvGrpSpPr>
        <p:grpSpPr>
          <a:xfrm>
            <a:off x="381000" y="190500"/>
            <a:ext cx="2000100" cy="209700"/>
            <a:chOff x="0" y="0"/>
            <a:chExt cx="2000100" cy="209700"/>
          </a:xfrm>
        </p:grpSpPr>
        <p:sp>
          <p:nvSpPr>
            <p:cNvPr id="372" name="Google Shape;372;h386d3d9a51381266_27_4254"/>
            <p:cNvSpPr/>
            <p:nvPr/>
          </p:nvSpPr>
          <p:spPr>
            <a:xfrm>
              <a:off x="0" y="0"/>
              <a:ext cx="20001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h386d3d9a51381266_27_4254"/>
            <p:cNvSpPr txBox="1"/>
            <p:nvPr/>
          </p:nvSpPr>
          <p:spPr>
            <a:xfrm>
              <a:off x="0" y="0"/>
              <a:ext cx="20001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MODEL BIZNESOWY / DO DYSKUSJI</a:t>
              </a:r>
              <a:endParaRPr b="1" i="0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4" name="Google Shape;374;h386d3d9a51381266_27_4254"/>
          <p:cNvSpPr txBox="1"/>
          <p:nvPr/>
        </p:nvSpPr>
        <p:spPr>
          <a:xfrm>
            <a:off x="381000" y="43815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Hipotezy monetyzacji: </a:t>
            </a:r>
            <a:r>
              <a:rPr b="0" i="0" lang="pl" sz="15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Model otwarty do walidacji i dyskusji</a:t>
            </a:r>
            <a:endParaRPr b="0" i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75" name="Google Shape;375;h386d3d9a51381266_27_4254"/>
          <p:cNvGrpSpPr/>
          <p:nvPr/>
        </p:nvGrpSpPr>
        <p:grpSpPr>
          <a:xfrm>
            <a:off x="381000" y="904875"/>
            <a:ext cx="8382000" cy="3791100"/>
            <a:chOff x="381000" y="904875"/>
            <a:chExt cx="8382000" cy="3791100"/>
          </a:xfrm>
        </p:grpSpPr>
        <p:grpSp>
          <p:nvGrpSpPr>
            <p:cNvPr id="376" name="Google Shape;376;h386d3d9a51381266_27_4254"/>
            <p:cNvGrpSpPr/>
            <p:nvPr/>
          </p:nvGrpSpPr>
          <p:grpSpPr>
            <a:xfrm>
              <a:off x="381000" y="904875"/>
              <a:ext cx="8382000" cy="552600"/>
              <a:chOff x="0" y="0"/>
              <a:chExt cx="8382000" cy="552600"/>
            </a:xfrm>
          </p:grpSpPr>
          <p:sp>
            <p:nvSpPr>
              <p:cNvPr id="377" name="Google Shape;377;h386d3d9a51381266_27_4254"/>
              <p:cNvSpPr/>
              <p:nvPr/>
            </p:nvSpPr>
            <p:spPr>
              <a:xfrm>
                <a:off x="0" y="0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14300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h386d3d9a51381266_27_4254"/>
              <p:cNvSpPr/>
              <p:nvPr/>
            </p:nvSpPr>
            <p:spPr>
              <a:xfrm>
                <a:off x="133350" y="104775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h386d3d9a51381266_27_4254"/>
              <p:cNvSpPr txBox="1"/>
              <p:nvPr/>
            </p:nvSpPr>
            <p:spPr>
              <a:xfrm>
                <a:off x="133350" y="131064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subscriptions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80" name="Google Shape;380;h386d3d9a51381266_27_4254"/>
              <p:cNvSpPr txBox="1"/>
              <p:nvPr/>
            </p:nvSpPr>
            <p:spPr>
              <a:xfrm>
                <a:off x="590550" y="76200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Freemium / Plus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38BDF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[MODEL PODSTAWOWY]</a:t>
                </a:r>
                <a:endParaRPr b="0" sz="75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1" name="Google Shape;381;h386d3d9a51381266_27_4254"/>
              <p:cNvSpPr txBox="1"/>
              <p:nvPr/>
            </p:nvSpPr>
            <p:spPr>
              <a:xfrm>
                <a:off x="2762250" y="76200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Bezpłatne korzystanie z wyszukiwarki. Dostęp do danych kontaktowych i czatu w ramach subskrypcji.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2" name="Google Shape;382;h386d3d9a51381266_27_4254"/>
            <p:cNvGrpSpPr/>
            <p:nvPr/>
          </p:nvGrpSpPr>
          <p:grpSpPr>
            <a:xfrm>
              <a:off x="381000" y="1552575"/>
              <a:ext cx="8382000" cy="552600"/>
              <a:chOff x="-2857500" y="647700"/>
              <a:chExt cx="8382000" cy="552600"/>
            </a:xfrm>
          </p:grpSpPr>
          <p:sp>
            <p:nvSpPr>
              <p:cNvPr id="383" name="Google Shape;383;h386d3d9a51381266_27_4254"/>
              <p:cNvSpPr/>
              <p:nvPr/>
            </p:nvSpPr>
            <p:spPr>
              <a:xfrm>
                <a:off x="-2857500" y="647700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h386d3d9a51381266_27_4254"/>
              <p:cNvSpPr/>
              <p:nvPr/>
            </p:nvSpPr>
            <p:spPr>
              <a:xfrm>
                <a:off x="-2724150" y="752475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h386d3d9a51381266_27_4254"/>
              <p:cNvSpPr txBox="1"/>
              <p:nvPr/>
            </p:nvSpPr>
            <p:spPr>
              <a:xfrm>
                <a:off x="-2724150" y="778764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86" name="Google Shape;386;h386d3d9a51381266_27_4254"/>
              <p:cNvSpPr txBox="1"/>
              <p:nvPr/>
            </p:nvSpPr>
            <p:spPr>
              <a:xfrm>
                <a:off x="-2266950" y="723900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 Funkcje Premium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[PRZYSZŁY ROZWÓJ]</a:t>
                </a:r>
                <a:endParaRPr b="0" sz="75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7" name="Google Shape;387;h386d3d9a51381266_27_4254"/>
              <p:cNvSpPr txBox="1"/>
              <p:nvPr/>
            </p:nvSpPr>
            <p:spPr>
              <a:xfrm>
                <a:off x="-95250" y="723900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Czaty grupowe i narzędzia do zarządzania projektem, np. kompletowaniem zespołu i komunikacją wokół zlecenia.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8" name="Google Shape;388;h386d3d9a51381266_27_4254"/>
            <p:cNvGrpSpPr/>
            <p:nvPr/>
          </p:nvGrpSpPr>
          <p:grpSpPr>
            <a:xfrm>
              <a:off x="381000" y="2200275"/>
              <a:ext cx="8382000" cy="552600"/>
              <a:chOff x="-5715000" y="1295400"/>
              <a:chExt cx="8382000" cy="552600"/>
            </a:xfrm>
          </p:grpSpPr>
          <p:sp>
            <p:nvSpPr>
              <p:cNvPr id="389" name="Google Shape;389;h386d3d9a51381266_27_4254"/>
              <p:cNvSpPr/>
              <p:nvPr/>
            </p:nvSpPr>
            <p:spPr>
              <a:xfrm>
                <a:off x="-5715000" y="1295400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h386d3d9a51381266_27_4254"/>
              <p:cNvSpPr/>
              <p:nvPr/>
            </p:nvSpPr>
            <p:spPr>
              <a:xfrm>
                <a:off x="-5581650" y="1400175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h386d3d9a51381266_27_4254"/>
              <p:cNvSpPr txBox="1"/>
              <p:nvPr/>
            </p:nvSpPr>
            <p:spPr>
              <a:xfrm>
                <a:off x="-5581650" y="1426464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school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92" name="Google Shape;392;h386d3d9a51381266_27_4254"/>
              <p:cNvSpPr txBox="1"/>
              <p:nvPr/>
            </p:nvSpPr>
            <p:spPr>
              <a:xfrm>
                <a:off x="-5124450" y="1371600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3. Ośrodki Szkoleniowe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[EKOSYSTEM &amp; PARTNERSTWA]</a:t>
                </a:r>
                <a:endParaRPr b="0" sz="75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3" name="Google Shape;393;h386d3d9a51381266_27_4254"/>
              <p:cNvSpPr txBox="1"/>
              <p:nvPr/>
            </p:nvSpPr>
            <p:spPr>
              <a:xfrm>
                <a:off x="-2952750" y="1371600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Promocja ośrodków i ich szkoleń wśród użytkowników FRAT oraz pozyskiwanie nowych techników tuż po certyfikacji.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4" name="Google Shape;394;h386d3d9a51381266_27_4254"/>
            <p:cNvGrpSpPr/>
            <p:nvPr/>
          </p:nvGrpSpPr>
          <p:grpSpPr>
            <a:xfrm>
              <a:off x="381000" y="2847975"/>
              <a:ext cx="8382000" cy="552600"/>
              <a:chOff x="0" y="-104775"/>
              <a:chExt cx="8382000" cy="552600"/>
            </a:xfrm>
          </p:grpSpPr>
          <p:sp>
            <p:nvSpPr>
              <p:cNvPr id="395" name="Google Shape;395;h386d3d9a51381266_27_4254"/>
              <p:cNvSpPr/>
              <p:nvPr/>
            </p:nvSpPr>
            <p:spPr>
              <a:xfrm>
                <a:off x="0" y="-104775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h386d3d9a51381266_27_4254"/>
              <p:cNvSpPr/>
              <p:nvPr/>
            </p:nvSpPr>
            <p:spPr>
              <a:xfrm>
                <a:off x="133350" y="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h386d3d9a51381266_27_4254"/>
              <p:cNvSpPr txBox="1"/>
              <p:nvPr/>
            </p:nvSpPr>
            <p:spPr>
              <a:xfrm>
                <a:off x="133350" y="262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business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98" name="Google Shape;398;h386d3d9a51381266_27_4254"/>
              <p:cNvSpPr txBox="1"/>
              <p:nvPr/>
            </p:nvSpPr>
            <p:spPr>
              <a:xfrm>
                <a:off x="590550" y="-28575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4. Firmy Branżowe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[ROZWIAZANIA B2B]</a:t>
                </a:r>
                <a:endParaRPr b="0" sz="75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9" name="Google Shape;399;h386d3d9a51381266_27_4254"/>
              <p:cNvSpPr txBox="1"/>
              <p:nvPr/>
            </p:nvSpPr>
            <p:spPr>
              <a:xfrm>
                <a:off x="2762250" y="-28575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Płatne rozwiązania, narzędzia rekrutacyjne lub dedykowane partnerstwa dopasowane do potrzeb firm.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0" name="Google Shape;400;h386d3d9a51381266_27_4254"/>
            <p:cNvGrpSpPr/>
            <p:nvPr/>
          </p:nvGrpSpPr>
          <p:grpSpPr>
            <a:xfrm>
              <a:off x="381000" y="3495675"/>
              <a:ext cx="8382000" cy="552600"/>
              <a:chOff x="-2857500" y="542925"/>
              <a:chExt cx="8382000" cy="552600"/>
            </a:xfrm>
          </p:grpSpPr>
          <p:sp>
            <p:nvSpPr>
              <p:cNvPr id="401" name="Google Shape;401;h386d3d9a51381266_27_4254"/>
              <p:cNvSpPr/>
              <p:nvPr/>
            </p:nvSpPr>
            <p:spPr>
              <a:xfrm>
                <a:off x="-2857500" y="542925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h386d3d9a51381266_27_4254"/>
              <p:cNvSpPr/>
              <p:nvPr/>
            </p:nvSpPr>
            <p:spPr>
              <a:xfrm>
                <a:off x="-2724150" y="6477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h386d3d9a51381266_27_4254"/>
              <p:cNvSpPr txBox="1"/>
              <p:nvPr/>
            </p:nvSpPr>
            <p:spPr>
              <a:xfrm>
                <a:off x="-2724150" y="6739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campaign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4" name="Google Shape;404;h386d3d9a51381266_27_4254"/>
              <p:cNvSpPr txBox="1"/>
              <p:nvPr/>
            </p:nvSpPr>
            <p:spPr>
              <a:xfrm>
                <a:off x="-2266950" y="619125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5. Model Reklamowy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[MONETYZACJA RUCHU]</a:t>
                </a:r>
                <a:endParaRPr b="0" sz="75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05" name="Google Shape;405;h386d3d9a51381266_27_4254"/>
              <p:cNvSpPr txBox="1"/>
              <p:nvPr/>
            </p:nvSpPr>
            <p:spPr>
              <a:xfrm>
                <a:off x="-95250" y="619125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Możliwa przestrzeń reklamowa przy odpowiednio dużym ruchu, jako alternatywa lub uzupełnienie subskrypcji.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6" name="Google Shape;406;h386d3d9a51381266_27_4254"/>
            <p:cNvGrpSpPr/>
            <p:nvPr/>
          </p:nvGrpSpPr>
          <p:grpSpPr>
            <a:xfrm>
              <a:off x="381000" y="4143375"/>
              <a:ext cx="8382000" cy="552600"/>
              <a:chOff x="-5715000" y="1190625"/>
              <a:chExt cx="8382000" cy="552600"/>
            </a:xfrm>
          </p:grpSpPr>
          <p:sp>
            <p:nvSpPr>
              <p:cNvPr id="407" name="Google Shape;407;h386d3d9a51381266_27_4254"/>
              <p:cNvSpPr/>
              <p:nvPr/>
            </p:nvSpPr>
            <p:spPr>
              <a:xfrm>
                <a:off x="-5715000" y="1190625"/>
                <a:ext cx="8382000" cy="552600"/>
              </a:xfrm>
              <a:prstGeom prst="roundRect">
                <a:avLst>
                  <a:gd fmla="val 17241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h386d3d9a51381266_27_4254"/>
              <p:cNvSpPr/>
              <p:nvPr/>
            </p:nvSpPr>
            <p:spPr>
              <a:xfrm>
                <a:off x="-5581650" y="12954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h386d3d9a51381266_27_4254"/>
              <p:cNvSpPr txBox="1"/>
              <p:nvPr/>
            </p:nvSpPr>
            <p:spPr>
              <a:xfrm>
                <a:off x="-5581650" y="13216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18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phone_android</a:t>
                </a:r>
                <a:endParaRPr b="0" sz="18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0" name="Google Shape;410;h386d3d9a51381266_27_4254"/>
              <p:cNvSpPr txBox="1"/>
              <p:nvPr/>
            </p:nvSpPr>
            <p:spPr>
              <a:xfrm>
                <a:off x="-5124450" y="1266825"/>
                <a:ext cx="2095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6. Płatny Dostęp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pl" sz="75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[WARIANT ALTERNATYWNY]</a:t>
                </a:r>
                <a:endParaRPr b="0" sz="75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11" name="Google Shape;411;h386d3d9a51381266_27_4254"/>
              <p:cNvSpPr txBox="1"/>
              <p:nvPr/>
            </p:nvSpPr>
            <p:spPr>
              <a:xfrm>
                <a:off x="-2952750" y="1266825"/>
                <a:ext cx="5429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l" sz="8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Płatny dostęp do aplikacji lub wybranych modułów — wariant do porównania z modelem bezpłatnym i freemium.</a:t>
                </a:r>
                <a:endParaRPr b="0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386d3d9a51381266_27_5433"/>
          <p:cNvSpPr/>
          <p:nvPr/>
        </p:nvSpPr>
        <p:spPr>
          <a:xfrm>
            <a:off x="-476250" y="-952500"/>
            <a:ext cx="3810000" cy="3810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h386d3d9a51381266_27_5433"/>
          <p:cNvSpPr/>
          <p:nvPr/>
        </p:nvSpPr>
        <p:spPr>
          <a:xfrm>
            <a:off x="5238750" y="1428750"/>
            <a:ext cx="4762500" cy="47625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h386d3d9a51381266_27_5433"/>
          <p:cNvGrpSpPr/>
          <p:nvPr/>
        </p:nvGrpSpPr>
        <p:grpSpPr>
          <a:xfrm>
            <a:off x="381000" y="190500"/>
            <a:ext cx="1714500" cy="209700"/>
            <a:chOff x="0" y="0"/>
            <a:chExt cx="1714500" cy="209700"/>
          </a:xfrm>
        </p:grpSpPr>
        <p:sp>
          <p:nvSpPr>
            <p:cNvPr id="419" name="Google Shape;419;h386d3d9a51381266_27_5433"/>
            <p:cNvSpPr/>
            <p:nvPr/>
          </p:nvSpPr>
          <p:spPr>
            <a:xfrm>
              <a:off x="0" y="0"/>
              <a:ext cx="17145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h386d3d9a51381266_27_5433"/>
            <p:cNvSpPr txBox="1"/>
            <p:nvPr/>
          </p:nvSpPr>
          <p:spPr>
            <a:xfrm>
              <a:off x="0" y="0"/>
              <a:ext cx="1714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ROADMAPA / PLAN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21" name="Google Shape;421;h386d3d9a51381266_27_5433"/>
          <p:cNvSpPr txBox="1"/>
          <p:nvPr/>
        </p:nvSpPr>
        <p:spPr>
          <a:xfrm>
            <a:off x="381000" y="438150"/>
            <a:ext cx="838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Od prototypu do zaufanej </a:t>
            </a:r>
            <a:r>
              <a:rPr b="0" lang="pl" sz="15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platformy branżowej</a:t>
            </a:r>
            <a:endParaRPr b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22" name="Google Shape;422;h386d3d9a51381266_27_5433"/>
          <p:cNvGrpSpPr/>
          <p:nvPr/>
        </p:nvGrpSpPr>
        <p:grpSpPr>
          <a:xfrm>
            <a:off x="381000" y="895350"/>
            <a:ext cx="8382000" cy="571500"/>
            <a:chOff x="0" y="0"/>
            <a:chExt cx="8382000" cy="571500"/>
          </a:xfrm>
        </p:grpSpPr>
        <p:sp>
          <p:nvSpPr>
            <p:cNvPr id="423" name="Google Shape;423;h386d3d9a51381266_27_543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 cap="flat" cmpd="sng" w="143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h386d3d9a51381266_27_5433"/>
            <p:cNvSpPr/>
            <p:nvPr/>
          </p:nvSpPr>
          <p:spPr>
            <a:xfrm>
              <a:off x="114300" y="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h386d3d9a51381266_27_5433"/>
            <p:cNvSpPr txBox="1"/>
            <p:nvPr/>
          </p:nvSpPr>
          <p:spPr>
            <a:xfrm>
              <a:off x="114300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3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26" name="Google Shape;426;h386d3d9a51381266_27_5433"/>
            <p:cNvSpPr txBox="1"/>
            <p:nvPr/>
          </p:nvSpPr>
          <p:spPr>
            <a:xfrm>
              <a:off x="628650" y="57150"/>
              <a:ext cx="190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Validate the core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h386d3d9a51381266_27_5433"/>
            <p:cNvSpPr txBox="1"/>
            <p:nvPr/>
          </p:nvSpPr>
          <p:spPr>
            <a:xfrm>
              <a:off x="2628900" y="57150"/>
              <a:ext cx="5562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Rozwój prototypu z pierwszymi technikami i firmami. Potwierdzenie wartości: szybszy kontakt i weryfikacja kwalifikacji.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8" name="Google Shape;428;h386d3d9a51381266_27_5433"/>
          <p:cNvGrpSpPr/>
          <p:nvPr/>
        </p:nvGrpSpPr>
        <p:grpSpPr>
          <a:xfrm>
            <a:off x="381000" y="1562100"/>
            <a:ext cx="8382000" cy="571500"/>
            <a:chOff x="0" y="0"/>
            <a:chExt cx="8382000" cy="571500"/>
          </a:xfrm>
        </p:grpSpPr>
        <p:sp>
          <p:nvSpPr>
            <p:cNvPr id="429" name="Google Shape;429;h386d3d9a51381266_27_543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h386d3d9a51381266_27_5433"/>
            <p:cNvSpPr/>
            <p:nvPr/>
          </p:nvSpPr>
          <p:spPr>
            <a:xfrm>
              <a:off x="114300" y="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h386d3d9a51381266_27_5433"/>
            <p:cNvSpPr txBox="1"/>
            <p:nvPr/>
          </p:nvSpPr>
          <p:spPr>
            <a:xfrm>
              <a:off x="114300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3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32" name="Google Shape;432;h386d3d9a51381266_27_5433"/>
            <p:cNvSpPr txBox="1"/>
            <p:nvPr/>
          </p:nvSpPr>
          <p:spPr>
            <a:xfrm>
              <a:off x="628650" y="57150"/>
              <a:ext cx="190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Build ecosystem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3" name="Google Shape;433;h386d3d9a51381266_27_5433"/>
            <p:cNvSpPr txBox="1"/>
            <p:nvPr/>
          </p:nvSpPr>
          <p:spPr>
            <a:xfrm>
              <a:off x="2628900" y="57150"/>
              <a:ext cx="5562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Moduł szkoleń i partnerstwa z ośrodkami szkoleniowymi. Ośrodki jako kanał dotarcia do nowych techników.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4" name="Google Shape;434;h386d3d9a51381266_27_5433"/>
          <p:cNvGrpSpPr/>
          <p:nvPr/>
        </p:nvGrpSpPr>
        <p:grpSpPr>
          <a:xfrm>
            <a:off x="381000" y="2228850"/>
            <a:ext cx="8382000" cy="571500"/>
            <a:chOff x="0" y="0"/>
            <a:chExt cx="8382000" cy="571500"/>
          </a:xfrm>
        </p:grpSpPr>
        <p:sp>
          <p:nvSpPr>
            <p:cNvPr id="435" name="Google Shape;435;h386d3d9a51381266_27_543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h386d3d9a51381266_27_5433"/>
            <p:cNvSpPr/>
            <p:nvPr/>
          </p:nvSpPr>
          <p:spPr>
            <a:xfrm>
              <a:off x="114300" y="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h386d3d9a51381266_27_5433"/>
            <p:cNvSpPr txBox="1"/>
            <p:nvPr/>
          </p:nvSpPr>
          <p:spPr>
            <a:xfrm>
              <a:off x="114300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3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38" name="Google Shape;438;h386d3d9a51381266_27_5433"/>
            <p:cNvSpPr txBox="1"/>
            <p:nvPr/>
          </p:nvSpPr>
          <p:spPr>
            <a:xfrm>
              <a:off x="628650" y="57150"/>
              <a:ext cx="190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Find focus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h386d3d9a51381266_27_5433"/>
            <p:cNvSpPr txBox="1"/>
            <p:nvPr/>
          </p:nvSpPr>
          <p:spPr>
            <a:xfrm>
              <a:off x="2628900" y="57150"/>
              <a:ext cx="5562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Wybór kluczowego segmentu na podstawie danych z pilotażu i testowanie gotowości do płacenia za funkcje Premium/B2B.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0" name="Google Shape;440;h386d3d9a51381266_27_5433"/>
          <p:cNvGrpSpPr/>
          <p:nvPr/>
        </p:nvGrpSpPr>
        <p:grpSpPr>
          <a:xfrm>
            <a:off x="381000" y="2895600"/>
            <a:ext cx="8382000" cy="571500"/>
            <a:chOff x="0" y="0"/>
            <a:chExt cx="8382000" cy="571500"/>
          </a:xfrm>
        </p:grpSpPr>
        <p:sp>
          <p:nvSpPr>
            <p:cNvPr id="441" name="Google Shape;441;h386d3d9a51381266_27_543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h386d3d9a51381266_27_5433"/>
            <p:cNvSpPr/>
            <p:nvPr/>
          </p:nvSpPr>
          <p:spPr>
            <a:xfrm>
              <a:off x="114300" y="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h386d3d9a51381266_27_5433"/>
            <p:cNvSpPr txBox="1"/>
            <p:nvPr/>
          </p:nvSpPr>
          <p:spPr>
            <a:xfrm>
              <a:off x="114300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13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44" name="Google Shape;444;h386d3d9a51381266_27_5433"/>
            <p:cNvSpPr txBox="1"/>
            <p:nvPr/>
          </p:nvSpPr>
          <p:spPr>
            <a:xfrm>
              <a:off x="628650" y="57150"/>
              <a:ext cx="190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Repeatable growth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5" name="Google Shape;445;h386d3d9a51381266_27_5433"/>
            <p:cNvSpPr txBox="1"/>
            <p:nvPr/>
          </p:nvSpPr>
          <p:spPr>
            <a:xfrm>
              <a:off x="2628900" y="57150"/>
              <a:ext cx="5562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Inwestycja w najskuteczniejsze kanały: outreach do firm, partnerstwa branżowe, marketing i budowanie efektu sieciowego.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6" name="Google Shape;446;h386d3d9a51381266_27_5433"/>
          <p:cNvGrpSpPr/>
          <p:nvPr/>
        </p:nvGrpSpPr>
        <p:grpSpPr>
          <a:xfrm>
            <a:off x="381000" y="3562350"/>
            <a:ext cx="8382000" cy="571500"/>
            <a:chOff x="0" y="0"/>
            <a:chExt cx="8382000" cy="571500"/>
          </a:xfrm>
        </p:grpSpPr>
        <p:sp>
          <p:nvSpPr>
            <p:cNvPr id="447" name="Google Shape;447;h386d3d9a51381266_27_543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h386d3d9a51381266_27_5433"/>
            <p:cNvSpPr/>
            <p:nvPr/>
          </p:nvSpPr>
          <p:spPr>
            <a:xfrm>
              <a:off x="114300" y="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EA5E9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h386d3d9a51381266_27_5433"/>
            <p:cNvSpPr txBox="1"/>
            <p:nvPr/>
          </p:nvSpPr>
          <p:spPr>
            <a:xfrm>
              <a:off x="114300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13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50" name="Google Shape;450;h386d3d9a51381266_27_5433"/>
            <p:cNvSpPr txBox="1"/>
            <p:nvPr/>
          </p:nvSpPr>
          <p:spPr>
            <a:xfrm>
              <a:off x="628650" y="57150"/>
              <a:ext cx="190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Scale selectively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1" name="Google Shape;451;h386d3d9a51381266_27_5433"/>
            <p:cNvSpPr txBox="1"/>
            <p:nvPr/>
          </p:nvSpPr>
          <p:spPr>
            <a:xfrm>
              <a:off x="2628900" y="57150"/>
              <a:ext cx="5562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Ekspansja na rynki europejskie (DE, NO, UK) oraz wejście w kolejne segmenty prac wysokościowych.</a:t>
              </a:r>
              <a:endParaRPr b="0"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