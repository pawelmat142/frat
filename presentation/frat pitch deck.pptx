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</p:sldIdLst>
  <p:sldSz cy="5143500" cx="9144000"/>
  <p:notesSz cx="6858000" cy="9144000"/>
  <p:embeddedFontLst>
    <p:embeddedFont>
      <p:font typeface="Inter SemiBold"/>
      <p:regular r:id="rId9"/>
      <p:bold r:id="rId10"/>
      <p:italic r:id="rId11"/>
      <p:boldItalic r:id="rId12"/>
    </p:embeddedFont>
    <p:embeddedFont>
      <p:font typeface="Inter"/>
      <p:regular r:id="rId13"/>
      <p:bold r:id="rId14"/>
      <p:italic r:id="rId15"/>
      <p:boldItalic r:id="rId16"/>
    </p:embeddedFont>
    <p:embeddedFont>
      <p:font typeface="Inter ExtraBold"/>
      <p:bold r:id="rId17"/>
      <p:boldItalic r:id="rId18"/>
    </p:embeddedFont>
    <p:embeddedFont>
      <p:font typeface="Inter Medium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Medium-bold.fntdata"/><Relationship Id="rId11" Type="http://schemas.openxmlformats.org/officeDocument/2006/relationships/font" Target="fonts/InterSemiBold-italic.fntdata"/><Relationship Id="rId22" Type="http://schemas.openxmlformats.org/officeDocument/2006/relationships/font" Target="fonts/InterMedium-boldItalic.fntdata"/><Relationship Id="rId10" Type="http://schemas.openxmlformats.org/officeDocument/2006/relationships/font" Target="fonts/InterSemiBold-bold.fntdata"/><Relationship Id="rId21" Type="http://schemas.openxmlformats.org/officeDocument/2006/relationships/font" Target="fonts/InterMedium-italic.fntdata"/><Relationship Id="rId13" Type="http://schemas.openxmlformats.org/officeDocument/2006/relationships/font" Target="fonts/Inter-regular.fntdata"/><Relationship Id="rId12" Type="http://schemas.openxmlformats.org/officeDocument/2006/relationships/font" Target="fonts/InterSemiBold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font" Target="fonts/InterSemiBold-regular.fntdata"/><Relationship Id="rId15" Type="http://schemas.openxmlformats.org/officeDocument/2006/relationships/font" Target="fonts/Inter-italic.fntdata"/><Relationship Id="rId14" Type="http://schemas.openxmlformats.org/officeDocument/2006/relationships/font" Target="fonts/Inter-bold.fntdata"/><Relationship Id="rId17" Type="http://schemas.openxmlformats.org/officeDocument/2006/relationships/font" Target="fonts/InterExtraBold-bold.fntdata"/><Relationship Id="rId16" Type="http://schemas.openxmlformats.org/officeDocument/2006/relationships/font" Target="fonts/Inter-boldItalic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InterMedium-regular.fntdata"/><Relationship Id="rId6" Type="http://schemas.openxmlformats.org/officeDocument/2006/relationships/slide" Target="slides/slide1.xml"/><Relationship Id="rId18" Type="http://schemas.openxmlformats.org/officeDocument/2006/relationships/font" Target="fonts/InterExtraBold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h5b8fe65fcff7108a_0_1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h5b8fe65fcff7108a_0_1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h5b8fe65fcff7108a_0_16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h5b8fe65fcff7108a_0_16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h5b8fe65fcff7108a_81_0)">
  <p:cSld name="Generated (h5b8fe65fcff7108a_81_0)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/>
          <p:nvPr/>
        </p:nvSpPr>
        <p:spPr>
          <a:xfrm>
            <a:off x="5715000" y="-1428750"/>
            <a:ext cx="4762500" cy="4762500"/>
          </a:xfrm>
          <a:prstGeom prst="ellipse">
            <a:avLst/>
          </a:prstGeom>
          <a:solidFill>
            <a:srgbClr val="0EA5E9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14"/>
          <p:cNvSpPr/>
          <p:nvPr/>
        </p:nvSpPr>
        <p:spPr>
          <a:xfrm>
            <a:off x="-285750" y="2857500"/>
            <a:ext cx="3429000" cy="3429000"/>
          </a:xfrm>
          <a:prstGeom prst="ellipse">
            <a:avLst/>
          </a:prstGeom>
          <a:solidFill>
            <a:srgbClr val="6366F1">
              <a:alpha val="10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7" name="Google Shape;57;p14"/>
          <p:cNvGrpSpPr/>
          <p:nvPr/>
        </p:nvGrpSpPr>
        <p:grpSpPr>
          <a:xfrm>
            <a:off x="571500" y="1143000"/>
            <a:ext cx="4381500" cy="2952750"/>
            <a:chOff x="0" y="428625"/>
            <a:chExt cx="4381500" cy="2952750"/>
          </a:xfrm>
        </p:grpSpPr>
        <p:sp>
          <p:nvSpPr>
            <p:cNvPr id="58" name="Google Shape;58;p14"/>
            <p:cNvSpPr txBox="1"/>
            <p:nvPr/>
          </p:nvSpPr>
          <p:spPr>
            <a:xfrm>
              <a:off x="0" y="428625"/>
              <a:ext cx="42864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pl" sz="4960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FRAT</a:t>
              </a:r>
              <a:endParaRPr b="0" sz="4960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59" name="Google Shape;59;p14"/>
            <p:cNvSpPr txBox="1"/>
            <p:nvPr/>
          </p:nvSpPr>
          <p:spPr>
            <a:xfrm>
              <a:off x="0" y="1200150"/>
              <a:ext cx="438150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pl" sz="1500">
                  <a:solidFill>
                    <a:srgbClr val="38BDF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Find Rope Access Technicians</a:t>
              </a:r>
              <a:endParaRPr b="0" i="0" sz="1500">
                <a:solidFill>
                  <a:srgbClr val="38BDF8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i="0" lang="pl" sz="1100">
                  <a:solidFill>
                    <a:srgbClr val="7DD3FC"/>
                  </a:solidFill>
                  <a:latin typeface="Inter"/>
                  <a:ea typeface="Inter"/>
                  <a:cs typeface="Inter"/>
                  <a:sym typeface="Inter"/>
                </a:rPr>
                <a:t>(Znajdź techników dostępu linowego)</a:t>
              </a:r>
              <a:endParaRPr b="0" i="0" sz="1100">
                <a:solidFill>
                  <a:srgbClr val="7DD3FC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60" name="Google Shape;60;p14"/>
            <p:cNvSpPr txBox="1"/>
            <p:nvPr/>
          </p:nvSpPr>
          <p:spPr>
            <a:xfrm>
              <a:off x="0" y="1905000"/>
              <a:ext cx="4191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pl" sz="13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Platforma, która upraszcza komunikację i ułatwia szybkie znajdowanie techników dostępu linowego oraz specjalistów z branż pokrewnych.</a:t>
              </a:r>
              <a:endParaRPr b="0" i="0" sz="13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61" name="Google Shape;61;p14"/>
            <p:cNvGrpSpPr/>
            <p:nvPr/>
          </p:nvGrpSpPr>
          <p:grpSpPr>
            <a:xfrm>
              <a:off x="0" y="3000375"/>
              <a:ext cx="3905400" cy="381000"/>
              <a:chOff x="0" y="333375"/>
              <a:chExt cx="3905400" cy="381000"/>
            </a:xfrm>
          </p:grpSpPr>
          <p:sp>
            <p:nvSpPr>
              <p:cNvPr id="62" name="Google Shape;62;p14"/>
              <p:cNvSpPr/>
              <p:nvPr/>
            </p:nvSpPr>
            <p:spPr>
              <a:xfrm>
                <a:off x="0" y="333375"/>
                <a:ext cx="1238400" cy="381000"/>
              </a:xfrm>
              <a:prstGeom prst="roundRect">
                <a:avLst>
                  <a:gd fmla="val 20000" name="adj"/>
                </a:avLst>
              </a:prstGeom>
              <a:solidFill>
                <a:srgbClr val="1E293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" name="Google Shape;63;p14"/>
              <p:cNvSpPr txBox="1"/>
              <p:nvPr/>
            </p:nvSpPr>
            <p:spPr>
              <a:xfrm>
                <a:off x="0" y="333375"/>
                <a:ext cx="12384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pl" sz="1000">
                    <a:solidFill>
                      <a:srgbClr val="F1F5F9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Technicy</a:t>
                </a:r>
                <a:endParaRPr b="0" i="0" sz="1000">
                  <a:solidFill>
                    <a:srgbClr val="F1F5F9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sp>
            <p:nvSpPr>
              <p:cNvPr id="64" name="Google Shape;64;p14"/>
              <p:cNvSpPr/>
              <p:nvPr/>
            </p:nvSpPr>
            <p:spPr>
              <a:xfrm>
                <a:off x="1333500" y="333375"/>
                <a:ext cx="1238400" cy="381000"/>
              </a:xfrm>
              <a:prstGeom prst="roundRect">
                <a:avLst>
                  <a:gd fmla="val 20000" name="adj"/>
                </a:avLst>
              </a:prstGeom>
              <a:solidFill>
                <a:srgbClr val="1E293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" name="Google Shape;65;p14"/>
              <p:cNvSpPr txBox="1"/>
              <p:nvPr/>
            </p:nvSpPr>
            <p:spPr>
              <a:xfrm>
                <a:off x="1333500" y="333375"/>
                <a:ext cx="12384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pl" sz="1000">
                    <a:solidFill>
                      <a:srgbClr val="F1F5F9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Zlecenia</a:t>
                </a:r>
                <a:endParaRPr b="0" i="0" sz="1000">
                  <a:solidFill>
                    <a:srgbClr val="F1F5F9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sp>
            <p:nvSpPr>
              <p:cNvPr id="66" name="Google Shape;66;p14"/>
              <p:cNvSpPr/>
              <p:nvPr/>
            </p:nvSpPr>
            <p:spPr>
              <a:xfrm>
                <a:off x="2667000" y="333375"/>
                <a:ext cx="1238400" cy="381000"/>
              </a:xfrm>
              <a:prstGeom prst="roundRect">
                <a:avLst>
                  <a:gd fmla="val 20000" name="adj"/>
                </a:avLst>
              </a:prstGeom>
              <a:solidFill>
                <a:srgbClr val="1E293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" name="Google Shape;67;p14"/>
              <p:cNvSpPr txBox="1"/>
              <p:nvPr/>
            </p:nvSpPr>
            <p:spPr>
              <a:xfrm>
                <a:off x="2667000" y="333375"/>
                <a:ext cx="12384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pl" sz="1000">
                    <a:solidFill>
                      <a:srgbClr val="F1F5F9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Szkolenia</a:t>
                </a:r>
                <a:endParaRPr b="0" i="0" sz="1000">
                  <a:solidFill>
                    <a:srgbClr val="F1F5F9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</p:grpSp>
      <p:grpSp>
        <p:nvGrpSpPr>
          <p:cNvPr id="68" name="Google Shape;68;p14"/>
          <p:cNvGrpSpPr/>
          <p:nvPr/>
        </p:nvGrpSpPr>
        <p:grpSpPr>
          <a:xfrm>
            <a:off x="5143500" y="619125"/>
            <a:ext cx="3429000" cy="3905400"/>
            <a:chOff x="0" y="0"/>
            <a:chExt cx="3429000" cy="3905400"/>
          </a:xfrm>
        </p:grpSpPr>
        <p:sp>
          <p:nvSpPr>
            <p:cNvPr id="69" name="Google Shape;69;p14"/>
            <p:cNvSpPr/>
            <p:nvPr/>
          </p:nvSpPr>
          <p:spPr>
            <a:xfrm>
              <a:off x="0" y="0"/>
              <a:ext cx="3429000" cy="3905400"/>
            </a:xfrm>
            <a:prstGeom prst="roundRect">
              <a:avLst>
                <a:gd fmla="val 5555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A professional rope access technician working safely at extreme height on a modern offshore wind turbine or industrial structure, dramatic golden hour lighting, cinematic atmosphere, high quality photography." id="70" name="Google Shape;70;p14"/>
            <p:cNvPicPr preferRelativeResize="0"/>
            <p:nvPr/>
          </p:nvPicPr>
          <p:blipFill rotWithShape="1">
            <a:blip r:embed="rId4">
              <a:alphaModFix/>
            </a:blip>
            <a:srcRect b="7286" l="0" r="0" t="7295"/>
            <a:stretch/>
          </p:blipFill>
          <p:spPr>
            <a:xfrm>
              <a:off x="0" y="0"/>
              <a:ext cx="3429000" cy="3905400"/>
            </a:xfrm>
            <a:prstGeom prst="roundRect">
              <a:avLst>
                <a:gd fmla="val 5555" name="adj"/>
              </a:avLst>
            </a:prstGeom>
            <a:noFill/>
            <a:ln>
              <a:noFill/>
            </a:ln>
          </p:spPr>
        </p:pic>
        <p:sp>
          <p:nvSpPr>
            <p:cNvPr id="71" name="Google Shape;71;p14"/>
            <p:cNvSpPr/>
            <p:nvPr/>
          </p:nvSpPr>
          <p:spPr>
            <a:xfrm>
              <a:off x="0" y="2571750"/>
              <a:ext cx="3429000" cy="1333500"/>
            </a:xfrm>
            <a:prstGeom prst="rect">
              <a:avLst/>
            </a:prstGeom>
            <a:gradFill>
              <a:gsLst>
                <a:gs pos="0">
                  <a:srgbClr val="0F172A">
                    <a:alpha val="0"/>
                  </a:srgbClr>
                </a:gs>
                <a:gs pos="100000">
                  <a:srgbClr val="0F172A">
                    <a:alpha val="94902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14"/>
            <p:cNvSpPr txBox="1"/>
            <p:nvPr/>
          </p:nvSpPr>
          <p:spPr>
            <a:xfrm>
              <a:off x="190500" y="3048000"/>
              <a:ext cx="30480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pl" sz="900">
                  <a:solidFill>
                    <a:srgbClr val="38BDF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Infrastruktura Cyfrowa</a:t>
              </a:r>
              <a:endParaRPr b="0" sz="900">
                <a:solidFill>
                  <a:srgbClr val="38BDF8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pl" sz="12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Łączymy profesjonalistów z możliwościami w całej Europie</a:t>
              </a:r>
              <a:endParaRPr b="0" sz="12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5"/>
          <p:cNvSpPr/>
          <p:nvPr/>
        </p:nvSpPr>
        <p:spPr>
          <a:xfrm>
            <a:off x="-476250" y="-952500"/>
            <a:ext cx="3810000" cy="3810000"/>
          </a:xfrm>
          <a:prstGeom prst="ellipse">
            <a:avLst/>
          </a:prstGeom>
          <a:solidFill>
            <a:srgbClr val="EF4444">
              <a:alpha val="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5"/>
          <p:cNvSpPr/>
          <p:nvPr/>
        </p:nvSpPr>
        <p:spPr>
          <a:xfrm>
            <a:off x="5238750" y="1428750"/>
            <a:ext cx="4762500" cy="4762500"/>
          </a:xfrm>
          <a:prstGeom prst="ellipse">
            <a:avLst/>
          </a:prstGeom>
          <a:solidFill>
            <a:srgbClr val="38BDF8">
              <a:alpha val="6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9" name="Google Shape;79;p15"/>
          <p:cNvGrpSpPr/>
          <p:nvPr/>
        </p:nvGrpSpPr>
        <p:grpSpPr>
          <a:xfrm>
            <a:off x="571500" y="333375"/>
            <a:ext cx="8001000" cy="828600"/>
            <a:chOff x="0" y="0"/>
            <a:chExt cx="8001000" cy="828600"/>
          </a:xfrm>
        </p:grpSpPr>
        <p:sp>
          <p:nvSpPr>
            <p:cNvPr id="80" name="Google Shape;80;p15"/>
            <p:cNvSpPr/>
            <p:nvPr/>
          </p:nvSpPr>
          <p:spPr>
            <a:xfrm>
              <a:off x="0" y="0"/>
              <a:ext cx="1428900" cy="228600"/>
            </a:xfrm>
            <a:prstGeom prst="roundRect">
              <a:avLst>
                <a:gd fmla="val 50000" name="adj"/>
              </a:avLst>
            </a:prstGeom>
            <a:solidFill>
              <a:srgbClr val="1E293B"/>
            </a:solidFill>
            <a:ln cap="flat" cmpd="sng" w="9525">
              <a:solidFill>
                <a:srgbClr val="38BDF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15"/>
            <p:cNvSpPr txBox="1"/>
            <p:nvPr/>
          </p:nvSpPr>
          <p:spPr>
            <a:xfrm>
              <a:off x="0" y="0"/>
              <a:ext cx="1428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l" sz="850">
                  <a:solidFill>
                    <a:srgbClr val="38BDF8"/>
                  </a:solidFill>
                  <a:latin typeface="Inter"/>
                  <a:ea typeface="Inter"/>
                  <a:cs typeface="Inter"/>
                  <a:sym typeface="Inter"/>
                </a:rPr>
                <a:t>PROBLEM BRANŻOWY</a:t>
              </a:r>
              <a:endParaRPr b="1" sz="850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82" name="Google Shape;82;p15"/>
            <p:cNvSpPr txBox="1"/>
            <p:nvPr/>
          </p:nvSpPr>
          <p:spPr>
            <a:xfrm>
              <a:off x="0" y="304800"/>
              <a:ext cx="8001000" cy="523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pl" sz="1711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Szukanie wykwalifikowanych techników wciąż opiera się na </a:t>
              </a:r>
              <a:r>
                <a:rPr b="0" lang="pl" sz="1711">
                  <a:solidFill>
                    <a:srgbClr val="38BDF8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rozproszonych sieciach</a:t>
              </a:r>
              <a:endParaRPr b="0" sz="1711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</p:grpSp>
      <p:grpSp>
        <p:nvGrpSpPr>
          <p:cNvPr id="83" name="Google Shape;83;p15"/>
          <p:cNvGrpSpPr/>
          <p:nvPr/>
        </p:nvGrpSpPr>
        <p:grpSpPr>
          <a:xfrm>
            <a:off x="571500" y="1238250"/>
            <a:ext cx="3857700" cy="2238300"/>
            <a:chOff x="0" y="0"/>
            <a:chExt cx="3857700" cy="2238300"/>
          </a:xfrm>
        </p:grpSpPr>
        <p:sp>
          <p:nvSpPr>
            <p:cNvPr id="84" name="Google Shape;84;p15"/>
            <p:cNvSpPr/>
            <p:nvPr/>
          </p:nvSpPr>
          <p:spPr>
            <a:xfrm>
              <a:off x="0" y="0"/>
              <a:ext cx="3857700" cy="2238300"/>
            </a:xfrm>
            <a:prstGeom prst="roundRect">
              <a:avLst>
                <a:gd fmla="val 6808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15"/>
            <p:cNvSpPr/>
            <p:nvPr/>
          </p:nvSpPr>
          <p:spPr>
            <a:xfrm>
              <a:off x="190500" y="0"/>
              <a:ext cx="571500" cy="28500"/>
            </a:xfrm>
            <a:prstGeom prst="roundRect">
              <a:avLst>
                <a:gd fmla="val 50000" name="adj"/>
              </a:avLst>
            </a:prstGeom>
            <a:solidFill>
              <a:srgbClr val="EF44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15"/>
            <p:cNvSpPr/>
            <p:nvPr/>
          </p:nvSpPr>
          <p:spPr>
            <a:xfrm>
              <a:off x="190500" y="190500"/>
              <a:ext cx="342900" cy="342900"/>
            </a:xfrm>
            <a:prstGeom prst="roundRect">
              <a:avLst>
                <a:gd fmla="val 27777" name="adj"/>
              </a:avLst>
            </a:prstGeom>
            <a:solidFill>
              <a:srgbClr val="EF4444">
                <a:alpha val="1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15"/>
            <p:cNvSpPr txBox="1"/>
            <p:nvPr/>
          </p:nvSpPr>
          <p:spPr>
            <a:xfrm>
              <a:off x="190500" y="212407"/>
              <a:ext cx="3429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l" sz="1500">
                  <a:solidFill>
                    <a:srgbClr val="EF444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person</a:t>
              </a:r>
              <a:endParaRPr sz="1500">
                <a:solidFill>
                  <a:srgbClr val="EF444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88" name="Google Shape;88;p15"/>
            <p:cNvSpPr txBox="1"/>
            <p:nvPr/>
          </p:nvSpPr>
          <p:spPr>
            <a:xfrm>
              <a:off x="647700" y="190500"/>
              <a:ext cx="29529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l" sz="135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Perspektywa Technika</a:t>
              </a:r>
              <a:endParaRPr b="1" sz="135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89" name="Google Shape;89;p15"/>
            <p:cNvSpPr txBox="1"/>
            <p:nvPr/>
          </p:nvSpPr>
          <p:spPr>
            <a:xfrm>
              <a:off x="190500" y="647700"/>
              <a:ext cx="34767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-288925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CBD5E1"/>
                </a:buClr>
                <a:buSzPts val="950"/>
                <a:buFont typeface="Inter"/>
                <a:buChar char="●"/>
              </a:pPr>
              <a:r>
                <a:rPr lang="pl" sz="95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Zlecenia są rozproszone po grupach social media, komunikatorach i telefonach.</a:t>
              </a:r>
              <a:endParaRPr sz="9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CBD5E1"/>
                </a:buClr>
                <a:buSzPts val="950"/>
                <a:buFont typeface="Inter"/>
                <a:buChar char="●"/>
              </a:pPr>
              <a:r>
                <a:rPr lang="pl" sz="95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Dużo straconego czasu na przeszukiwanie i weryfikację.</a:t>
              </a:r>
              <a:endParaRPr sz="9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CBD5E1"/>
                </a:buClr>
                <a:buSzPts val="950"/>
                <a:buFont typeface="Inter"/>
                <a:buChar char="●"/>
              </a:pPr>
              <a:r>
                <a:rPr lang="pl" sz="95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Trudność w szybkim znalezieniu zlecenia w dogodnym terminie.</a:t>
              </a:r>
              <a:endParaRPr sz="9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CBD5E1"/>
                </a:buClr>
                <a:buSzPts val="950"/>
                <a:buFont typeface="Inter"/>
                <a:buChar char="●"/>
              </a:pPr>
              <a:r>
                <a:rPr lang="pl" sz="95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Ograniczone możliwości wyjścia poza własną sieć kontaktów.</a:t>
              </a:r>
              <a:endParaRPr sz="9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90" name="Google Shape;90;p15"/>
          <p:cNvGrpSpPr/>
          <p:nvPr/>
        </p:nvGrpSpPr>
        <p:grpSpPr>
          <a:xfrm>
            <a:off x="4714875" y="1238250"/>
            <a:ext cx="3857700" cy="2238300"/>
            <a:chOff x="0" y="0"/>
            <a:chExt cx="3857700" cy="2238300"/>
          </a:xfrm>
        </p:grpSpPr>
        <p:sp>
          <p:nvSpPr>
            <p:cNvPr id="91" name="Google Shape;91;p15"/>
            <p:cNvSpPr/>
            <p:nvPr/>
          </p:nvSpPr>
          <p:spPr>
            <a:xfrm>
              <a:off x="0" y="0"/>
              <a:ext cx="3857700" cy="2238300"/>
            </a:xfrm>
            <a:prstGeom prst="roundRect">
              <a:avLst>
                <a:gd fmla="val 6808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15"/>
            <p:cNvSpPr/>
            <p:nvPr/>
          </p:nvSpPr>
          <p:spPr>
            <a:xfrm>
              <a:off x="190500" y="0"/>
              <a:ext cx="571500" cy="28500"/>
            </a:xfrm>
            <a:prstGeom prst="roundRect">
              <a:avLst>
                <a:gd fmla="val 50000" name="adj"/>
              </a:avLst>
            </a:prstGeom>
            <a:solidFill>
              <a:srgbClr val="F59E0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15"/>
            <p:cNvSpPr/>
            <p:nvPr/>
          </p:nvSpPr>
          <p:spPr>
            <a:xfrm>
              <a:off x="190500" y="190500"/>
              <a:ext cx="342900" cy="342900"/>
            </a:xfrm>
            <a:prstGeom prst="roundRect">
              <a:avLst>
                <a:gd fmla="val 27777" name="adj"/>
              </a:avLst>
            </a:prstGeom>
            <a:solidFill>
              <a:srgbClr val="F59E0B">
                <a:alpha val="1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15"/>
            <p:cNvSpPr txBox="1"/>
            <p:nvPr/>
          </p:nvSpPr>
          <p:spPr>
            <a:xfrm>
              <a:off x="190500" y="212407"/>
              <a:ext cx="3429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l" sz="1500">
                  <a:solidFill>
                    <a:srgbClr val="F59E0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business</a:t>
              </a:r>
              <a:endParaRPr sz="1500">
                <a:solidFill>
                  <a:srgbClr val="F59E0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95" name="Google Shape;95;p15"/>
            <p:cNvSpPr txBox="1"/>
            <p:nvPr/>
          </p:nvSpPr>
          <p:spPr>
            <a:xfrm>
              <a:off x="647700" y="190500"/>
              <a:ext cx="29529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l" sz="135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Perspektywa Firmy</a:t>
              </a:r>
              <a:endParaRPr b="1" sz="135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96" name="Google Shape;96;p15"/>
            <p:cNvSpPr txBox="1"/>
            <p:nvPr/>
          </p:nvSpPr>
          <p:spPr>
            <a:xfrm>
              <a:off x="190500" y="647700"/>
              <a:ext cx="34767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-288925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CBD5E1"/>
                </a:buClr>
                <a:buSzPts val="950"/>
                <a:buFont typeface="Inter"/>
                <a:buChar char="●"/>
              </a:pPr>
              <a:r>
                <a:rPr lang="pl" sz="95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Ręczne przeszukiwanie baz kontaktów, Excela i tablic ogłoszeń.</a:t>
              </a:r>
              <a:endParaRPr sz="9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CBD5E1"/>
                </a:buClr>
                <a:buSzPts val="950"/>
                <a:buFont typeface="Inter"/>
                <a:buChar char="●"/>
              </a:pPr>
              <a:r>
                <a:rPr lang="pl" sz="95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Czasochłonna weryfikacja certyfikatów i doświadczenia.</a:t>
              </a:r>
              <a:endParaRPr sz="9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CBD5E1"/>
                </a:buClr>
                <a:buSzPts val="950"/>
                <a:buFont typeface="Inter"/>
                <a:buChar char="●"/>
              </a:pPr>
              <a:r>
                <a:rPr lang="pl" sz="95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Trudne ustalanie bieżącej dostępności i mobilności.</a:t>
              </a:r>
              <a:endParaRPr sz="9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CBD5E1"/>
                </a:buClr>
                <a:buSzPts val="950"/>
                <a:buFont typeface="Inter"/>
                <a:buChar char="●"/>
              </a:pPr>
              <a:r>
                <a:rPr lang="pl" sz="95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Ryzyko opóźnień w kompletowaniu ekipy projektowej.</a:t>
              </a:r>
              <a:endParaRPr sz="9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97" name="Google Shape;97;p15"/>
          <p:cNvGrpSpPr/>
          <p:nvPr/>
        </p:nvGrpSpPr>
        <p:grpSpPr>
          <a:xfrm>
            <a:off x="571500" y="3667125"/>
            <a:ext cx="8001000" cy="1095300"/>
            <a:chOff x="0" y="0"/>
            <a:chExt cx="8001000" cy="1095300"/>
          </a:xfrm>
        </p:grpSpPr>
        <p:sp>
          <p:nvSpPr>
            <p:cNvPr id="98" name="Google Shape;98;p15"/>
            <p:cNvSpPr/>
            <p:nvPr/>
          </p:nvSpPr>
          <p:spPr>
            <a:xfrm>
              <a:off x="0" y="0"/>
              <a:ext cx="8001000" cy="1095300"/>
            </a:xfrm>
            <a:prstGeom prst="roundRect">
              <a:avLst>
                <a:gd fmla="val 13913" name="adj"/>
              </a:avLst>
            </a:prstGeom>
            <a:solidFill>
              <a:srgbClr val="1E293B"/>
            </a:solidFill>
            <a:ln cap="flat" cmpd="sng" w="14300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" name="Google Shape;99;p15"/>
            <p:cNvSpPr txBox="1"/>
            <p:nvPr/>
          </p:nvSpPr>
          <p:spPr>
            <a:xfrm>
              <a:off x="190500" y="133350"/>
              <a:ext cx="762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l" sz="85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OBECNY CHAOS REKRUTACYJNY:</a:t>
              </a:r>
              <a:endParaRPr b="1" sz="8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0" name="Google Shape;100;p15"/>
            <p:cNvSpPr txBox="1"/>
            <p:nvPr/>
          </p:nvSpPr>
          <p:spPr>
            <a:xfrm>
              <a:off x="190500" y="342900"/>
              <a:ext cx="76200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pl" sz="950">
                  <a:solidFill>
                    <a:srgbClr val="94A3B8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Grupy social media </a:t>
              </a:r>
              <a:r>
                <a:rPr b="1" lang="pl" sz="950">
                  <a:solidFill>
                    <a:srgbClr val="38BDF8"/>
                  </a:solidFill>
                  <a:latin typeface="Inter"/>
                  <a:ea typeface="Inter"/>
                  <a:cs typeface="Inter"/>
                  <a:sym typeface="Inter"/>
                </a:rPr>
                <a:t>→</a:t>
              </a:r>
              <a:r>
                <a:rPr b="0" lang="pl" sz="950">
                  <a:solidFill>
                    <a:srgbClr val="94A3B8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 Komunikatory </a:t>
              </a:r>
              <a:r>
                <a:rPr b="1" lang="pl" sz="950">
                  <a:solidFill>
                    <a:srgbClr val="38BDF8"/>
                  </a:solidFill>
                  <a:latin typeface="Inter"/>
                  <a:ea typeface="Inter"/>
                  <a:cs typeface="Inter"/>
                  <a:sym typeface="Inter"/>
                </a:rPr>
                <a:t>→</a:t>
              </a:r>
              <a:r>
                <a:rPr b="0" lang="pl" sz="950">
                  <a:solidFill>
                    <a:srgbClr val="94A3B8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 Telefony </a:t>
              </a:r>
              <a:r>
                <a:rPr b="1" lang="pl" sz="950">
                  <a:solidFill>
                    <a:srgbClr val="38BDF8"/>
                  </a:solidFill>
                  <a:latin typeface="Inter"/>
                  <a:ea typeface="Inter"/>
                  <a:cs typeface="Inter"/>
                  <a:sym typeface="Inter"/>
                </a:rPr>
                <a:t>→</a:t>
              </a:r>
              <a:r>
                <a:rPr b="0" lang="pl" sz="950">
                  <a:solidFill>
                    <a:srgbClr val="94A3B8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 Pliki Excel </a:t>
              </a:r>
              <a:r>
                <a:rPr b="1" lang="pl" sz="950">
                  <a:solidFill>
                    <a:srgbClr val="38BDF8"/>
                  </a:solidFill>
                  <a:latin typeface="Inter"/>
                  <a:ea typeface="Inter"/>
                  <a:cs typeface="Inter"/>
                  <a:sym typeface="Inter"/>
                </a:rPr>
                <a:t>→</a:t>
              </a:r>
              <a:r>
                <a:rPr b="0" lang="pl" sz="950">
                  <a:solidFill>
                    <a:srgbClr val="94A3B8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 Znajomi </a:t>
              </a:r>
              <a:r>
                <a:rPr b="1" lang="pl" sz="950">
                  <a:solidFill>
                    <a:srgbClr val="38BDF8"/>
                  </a:solidFill>
                  <a:latin typeface="Inter"/>
                  <a:ea typeface="Inter"/>
                  <a:cs typeface="Inter"/>
                  <a:sym typeface="Inter"/>
                </a:rPr>
                <a:t>→</a:t>
              </a:r>
              <a:r>
                <a:rPr b="0" lang="pl" sz="950">
                  <a:solidFill>
                    <a:srgbClr val="94A3B8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 E-maile</a:t>
              </a:r>
              <a:endParaRPr b="0" sz="950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  <p:sp>
          <p:nvSpPr>
            <p:cNvPr id="101" name="Google Shape;101;p15"/>
            <p:cNvSpPr/>
            <p:nvPr/>
          </p:nvSpPr>
          <p:spPr>
            <a:xfrm>
              <a:off x="3333750" y="723900"/>
              <a:ext cx="1333500" cy="247800"/>
            </a:xfrm>
            <a:prstGeom prst="roundRect">
              <a:avLst>
                <a:gd fmla="val 50000" name="adj"/>
              </a:avLst>
            </a:prstGeom>
            <a:solidFill>
              <a:srgbClr val="0EA5E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5"/>
            <p:cNvSpPr txBox="1"/>
            <p:nvPr/>
          </p:nvSpPr>
          <p:spPr>
            <a:xfrm>
              <a:off x="3333750" y="723900"/>
              <a:ext cx="1333500" cy="2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pl" sz="950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VS. FRAT</a:t>
              </a:r>
              <a:endParaRPr b="0" sz="950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6"/>
          <p:cNvSpPr/>
          <p:nvPr/>
        </p:nvSpPr>
        <p:spPr>
          <a:xfrm>
            <a:off x="5715000" y="-1428750"/>
            <a:ext cx="4762500" cy="4762500"/>
          </a:xfrm>
          <a:prstGeom prst="ellipse">
            <a:avLst/>
          </a:prstGeom>
          <a:solidFill>
            <a:srgbClr val="0EA5E9">
              <a:alpha val="12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6"/>
          <p:cNvSpPr/>
          <p:nvPr/>
        </p:nvSpPr>
        <p:spPr>
          <a:xfrm>
            <a:off x="-476250" y="3048000"/>
            <a:ext cx="3429000" cy="3429000"/>
          </a:xfrm>
          <a:prstGeom prst="ellipse">
            <a:avLst/>
          </a:prstGeom>
          <a:solidFill>
            <a:srgbClr val="6366F1">
              <a:alpha val="8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9" name="Google Shape;109;p16"/>
          <p:cNvGrpSpPr/>
          <p:nvPr/>
        </p:nvGrpSpPr>
        <p:grpSpPr>
          <a:xfrm>
            <a:off x="476250" y="238125"/>
            <a:ext cx="8191500" cy="609600"/>
            <a:chOff x="0" y="0"/>
            <a:chExt cx="8191500" cy="609600"/>
          </a:xfrm>
        </p:grpSpPr>
        <p:sp>
          <p:nvSpPr>
            <p:cNvPr id="110" name="Google Shape;110;p16"/>
            <p:cNvSpPr/>
            <p:nvPr/>
          </p:nvSpPr>
          <p:spPr>
            <a:xfrm>
              <a:off x="0" y="0"/>
              <a:ext cx="1714500" cy="209700"/>
            </a:xfrm>
            <a:prstGeom prst="roundRect">
              <a:avLst>
                <a:gd fmla="val 50000" name="adj"/>
              </a:avLst>
            </a:prstGeom>
            <a:solidFill>
              <a:srgbClr val="1E293B"/>
            </a:solidFill>
            <a:ln cap="flat" cmpd="sng" w="9525">
              <a:solidFill>
                <a:srgbClr val="38BDF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6"/>
            <p:cNvSpPr txBox="1"/>
            <p:nvPr/>
          </p:nvSpPr>
          <p:spPr>
            <a:xfrm>
              <a:off x="0" y="0"/>
              <a:ext cx="17145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l" sz="750">
                  <a:solidFill>
                    <a:srgbClr val="38BDF8"/>
                  </a:solidFill>
                  <a:latin typeface="Inter"/>
                  <a:ea typeface="Inter"/>
                  <a:cs typeface="Inter"/>
                  <a:sym typeface="Inter"/>
                </a:rPr>
                <a:t>SZANSA RYNKOWA W EUROPIE</a:t>
              </a:r>
              <a:endParaRPr b="1" sz="750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2" name="Google Shape;112;p16"/>
            <p:cNvSpPr txBox="1"/>
            <p:nvPr/>
          </p:nvSpPr>
          <p:spPr>
            <a:xfrm>
              <a:off x="0" y="266700"/>
              <a:ext cx="81915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pl" sz="1600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Europa potrzebuje wykwalifikowanych specjalistów prac wysokościowych</a:t>
              </a:r>
              <a:endParaRPr b="0" sz="1600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</p:grpSp>
      <p:grpSp>
        <p:nvGrpSpPr>
          <p:cNvPr id="113" name="Google Shape;113;p16"/>
          <p:cNvGrpSpPr/>
          <p:nvPr/>
        </p:nvGrpSpPr>
        <p:grpSpPr>
          <a:xfrm>
            <a:off x="476250" y="933450"/>
            <a:ext cx="2600400" cy="3095700"/>
            <a:chOff x="0" y="0"/>
            <a:chExt cx="2600400" cy="3095700"/>
          </a:xfrm>
        </p:grpSpPr>
        <p:sp>
          <p:nvSpPr>
            <p:cNvPr id="114" name="Google Shape;114;p16"/>
            <p:cNvSpPr/>
            <p:nvPr/>
          </p:nvSpPr>
          <p:spPr>
            <a:xfrm>
              <a:off x="0" y="0"/>
              <a:ext cx="2600400" cy="3095700"/>
            </a:xfrm>
            <a:prstGeom prst="roundRect">
              <a:avLst>
                <a:gd fmla="val 5128" name="adj"/>
              </a:avLst>
            </a:prstGeom>
            <a:solidFill>
              <a:srgbClr val="1E293B">
                <a:alpha val="90000"/>
              </a:srgbClr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6"/>
            <p:cNvSpPr/>
            <p:nvPr/>
          </p:nvSpPr>
          <p:spPr>
            <a:xfrm>
              <a:off x="152400" y="152400"/>
              <a:ext cx="2295600" cy="1047900"/>
            </a:xfrm>
            <a:prstGeom prst="roundRect">
              <a:avLst>
                <a:gd fmla="val 9090" name="adj"/>
              </a:avLst>
            </a:prstGeom>
            <a:solidFill>
              <a:srgbClr val="0F172A">
                <a:alpha val="6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6"/>
            <p:cNvSpPr txBox="1"/>
            <p:nvPr/>
          </p:nvSpPr>
          <p:spPr>
            <a:xfrm>
              <a:off x="247650" y="209550"/>
              <a:ext cx="2105100" cy="933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pl" sz="1700">
                  <a:solidFill>
                    <a:srgbClr val="38BDF8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180 tys. / 26 mld €</a:t>
              </a:r>
              <a:endParaRPr b="0" sz="1700">
                <a:solidFill>
                  <a:srgbClr val="38BDF8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1" lang="pl" sz="85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Zatrudnienie i wartość offshore</a:t>
              </a:r>
              <a:endParaRPr b="1" sz="85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pl" sz="7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180 000 etatów i 26 mld € wartości sektora offshore (Niemcy: &gt;31,5k etatów).</a:t>
              </a:r>
              <a:endParaRPr b="0" sz="7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7" name="Google Shape;117;p16"/>
            <p:cNvCxnSpPr/>
            <p:nvPr/>
          </p:nvCxnSpPr>
          <p:spPr>
            <a:xfrm>
              <a:off x="190500" y="1314450"/>
              <a:ext cx="22194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18" name="Google Shape;118;p16"/>
            <p:cNvSpPr/>
            <p:nvPr/>
          </p:nvSpPr>
          <p:spPr>
            <a:xfrm>
              <a:off x="171450" y="1428750"/>
              <a:ext cx="304800" cy="304800"/>
            </a:xfrm>
            <a:prstGeom prst="roundRect">
              <a:avLst>
                <a:gd fmla="val 25000" name="adj"/>
              </a:avLst>
            </a:prstGeom>
            <a:solidFill>
              <a:srgbClr val="0EA5E9">
                <a:alpha val="1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6"/>
            <p:cNvSpPr txBox="1"/>
            <p:nvPr/>
          </p:nvSpPr>
          <p:spPr>
            <a:xfrm>
              <a:off x="171450" y="1452118"/>
              <a:ext cx="3048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l" sz="1600">
                  <a:solidFill>
                    <a:srgbClr val="38BDF8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air</a:t>
              </a:r>
              <a:endParaRPr sz="1600">
                <a:solidFill>
                  <a:srgbClr val="38BDF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20" name="Google Shape;120;p16"/>
            <p:cNvSpPr txBox="1"/>
            <p:nvPr/>
          </p:nvSpPr>
          <p:spPr>
            <a:xfrm>
              <a:off x="552450" y="1428750"/>
              <a:ext cx="18861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l" sz="95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Energetyka Wiatrowa &amp; Offshore</a:t>
              </a:r>
              <a:endParaRPr b="1" sz="95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1" name="Google Shape;121;p16"/>
            <p:cNvSpPr txBox="1"/>
            <p:nvPr/>
          </p:nvSpPr>
          <p:spPr>
            <a:xfrm>
              <a:off x="171450" y="1828800"/>
              <a:ext cx="2257500" cy="11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-282575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CBD5E1"/>
                </a:buClr>
                <a:buSzPts val="850"/>
                <a:buFont typeface="Inter"/>
                <a:buChar char="●"/>
              </a:pPr>
              <a:r>
                <a:rPr lang="pl" sz="85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Dynamiczny wzrost zatrudnienia</a:t>
              </a:r>
              <a:endParaRPr sz="8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CBD5E1"/>
                </a:buClr>
                <a:buSzPts val="850"/>
                <a:buFont typeface="Inter"/>
                <a:buChar char="●"/>
              </a:pPr>
              <a:r>
                <a:rPr lang="pl" sz="85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Rygorystyczne wymogi GWO/IRATA</a:t>
              </a:r>
              <a:endParaRPr sz="8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CBD5E1"/>
                </a:buClr>
                <a:buSzPts val="850"/>
                <a:buFont typeface="Inter"/>
                <a:buChar char="●"/>
              </a:pPr>
              <a:r>
                <a:rPr lang="pl" sz="85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Praca w systemie rotacyjnym</a:t>
              </a:r>
              <a:endParaRPr sz="8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22" name="Google Shape;122;p16"/>
          <p:cNvGrpSpPr/>
          <p:nvPr/>
        </p:nvGrpSpPr>
        <p:grpSpPr>
          <a:xfrm>
            <a:off x="3267075" y="933450"/>
            <a:ext cx="2600400" cy="3095700"/>
            <a:chOff x="0" y="0"/>
            <a:chExt cx="2600400" cy="3095700"/>
          </a:xfrm>
        </p:grpSpPr>
        <p:sp>
          <p:nvSpPr>
            <p:cNvPr id="123" name="Google Shape;123;p16"/>
            <p:cNvSpPr/>
            <p:nvPr/>
          </p:nvSpPr>
          <p:spPr>
            <a:xfrm>
              <a:off x="0" y="0"/>
              <a:ext cx="2600400" cy="3095700"/>
            </a:xfrm>
            <a:prstGeom prst="roundRect">
              <a:avLst>
                <a:gd fmla="val 5128" name="adj"/>
              </a:avLst>
            </a:prstGeom>
            <a:solidFill>
              <a:srgbClr val="1E293B">
                <a:alpha val="90000"/>
              </a:srgbClr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6"/>
            <p:cNvSpPr/>
            <p:nvPr/>
          </p:nvSpPr>
          <p:spPr>
            <a:xfrm>
              <a:off x="152400" y="152400"/>
              <a:ext cx="2295600" cy="1047900"/>
            </a:xfrm>
            <a:prstGeom prst="roundRect">
              <a:avLst>
                <a:gd fmla="val 9090" name="adj"/>
              </a:avLst>
            </a:prstGeom>
            <a:solidFill>
              <a:srgbClr val="0F172A">
                <a:alpha val="6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16"/>
            <p:cNvSpPr txBox="1"/>
            <p:nvPr/>
          </p:nvSpPr>
          <p:spPr>
            <a:xfrm>
              <a:off x="247650" y="209550"/>
              <a:ext cx="2105100" cy="933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pl" sz="1700">
                  <a:solidFill>
                    <a:srgbClr val="38BDF8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32.5% i 26.3%</a:t>
              </a:r>
              <a:endParaRPr b="0" sz="1700">
                <a:solidFill>
                  <a:srgbClr val="38BDF8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1" lang="pl" sz="85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Udział Inspekcji NDT i Utrzymania</a:t>
              </a:r>
              <a:endParaRPr b="1" sz="85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pl" sz="7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Dwa największe segmenty Rope Access. Europa to 28.4% rynku Oil &amp; Gas.</a:t>
              </a:r>
              <a:endParaRPr b="0" sz="7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26" name="Google Shape;126;p16"/>
            <p:cNvCxnSpPr/>
            <p:nvPr/>
          </p:nvCxnSpPr>
          <p:spPr>
            <a:xfrm>
              <a:off x="190500" y="1314450"/>
              <a:ext cx="22194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27" name="Google Shape;127;p16"/>
            <p:cNvSpPr/>
            <p:nvPr/>
          </p:nvSpPr>
          <p:spPr>
            <a:xfrm>
              <a:off x="171450" y="1428750"/>
              <a:ext cx="304800" cy="304800"/>
            </a:xfrm>
            <a:prstGeom prst="roundRect">
              <a:avLst>
                <a:gd fmla="val 25000" name="adj"/>
              </a:avLst>
            </a:prstGeom>
            <a:solidFill>
              <a:srgbClr val="0EA5E9">
                <a:alpha val="1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" name="Google Shape;128;p16"/>
            <p:cNvSpPr txBox="1"/>
            <p:nvPr/>
          </p:nvSpPr>
          <p:spPr>
            <a:xfrm>
              <a:off x="171450" y="1452118"/>
              <a:ext cx="3048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l" sz="1600">
                  <a:solidFill>
                    <a:srgbClr val="38BDF8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search</a:t>
              </a:r>
              <a:endParaRPr sz="1600">
                <a:solidFill>
                  <a:srgbClr val="38BDF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29" name="Google Shape;129;p16"/>
            <p:cNvSpPr txBox="1"/>
            <p:nvPr/>
          </p:nvSpPr>
          <p:spPr>
            <a:xfrm>
              <a:off x="552450" y="1428750"/>
              <a:ext cx="18861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l" sz="95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Inspekcje &amp; NDT</a:t>
              </a:r>
              <a:endParaRPr b="1" sz="95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0" name="Google Shape;130;p16"/>
            <p:cNvSpPr txBox="1"/>
            <p:nvPr/>
          </p:nvSpPr>
          <p:spPr>
            <a:xfrm>
              <a:off x="171450" y="1828800"/>
              <a:ext cx="2257500" cy="11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-282575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CBD5E1"/>
                </a:buClr>
                <a:buSzPts val="850"/>
                <a:buFont typeface="Inter"/>
                <a:buChar char="●"/>
              </a:pPr>
              <a:r>
                <a:rPr lang="pl" sz="85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Kluczowy segment rope access</a:t>
              </a:r>
              <a:endParaRPr sz="8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CBD5E1"/>
                </a:buClr>
                <a:buSzPts val="850"/>
                <a:buFont typeface="Inter"/>
                <a:buChar char="●"/>
              </a:pPr>
              <a:r>
                <a:rPr lang="pl" sz="85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Wymóg wąskich specjalizacji</a:t>
              </a:r>
              <a:endParaRPr sz="8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CBD5E1"/>
                </a:buClr>
                <a:buSzPts val="850"/>
                <a:buFont typeface="Inter"/>
                <a:buChar char="●"/>
              </a:pPr>
              <a:r>
                <a:rPr lang="pl" sz="85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Szybki czas reakcji na projekty</a:t>
              </a:r>
              <a:endParaRPr sz="8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1" name="Google Shape;131;p16"/>
          <p:cNvGrpSpPr/>
          <p:nvPr/>
        </p:nvGrpSpPr>
        <p:grpSpPr>
          <a:xfrm>
            <a:off x="6057900" y="933450"/>
            <a:ext cx="2600400" cy="3095700"/>
            <a:chOff x="0" y="0"/>
            <a:chExt cx="2600400" cy="3095700"/>
          </a:xfrm>
        </p:grpSpPr>
        <p:sp>
          <p:nvSpPr>
            <p:cNvPr id="132" name="Google Shape;132;p16"/>
            <p:cNvSpPr/>
            <p:nvPr/>
          </p:nvSpPr>
          <p:spPr>
            <a:xfrm>
              <a:off x="0" y="0"/>
              <a:ext cx="2600400" cy="3095700"/>
            </a:xfrm>
            <a:prstGeom prst="roundRect">
              <a:avLst>
                <a:gd fmla="val 5128" name="adj"/>
              </a:avLst>
            </a:prstGeom>
            <a:solidFill>
              <a:srgbClr val="1E293B">
                <a:alpha val="90000"/>
              </a:srgbClr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" name="Google Shape;133;p16"/>
            <p:cNvSpPr/>
            <p:nvPr/>
          </p:nvSpPr>
          <p:spPr>
            <a:xfrm>
              <a:off x="152400" y="152400"/>
              <a:ext cx="2295600" cy="1047900"/>
            </a:xfrm>
            <a:prstGeom prst="roundRect">
              <a:avLst>
                <a:gd fmla="val 9090" name="adj"/>
              </a:avLst>
            </a:prstGeom>
            <a:solidFill>
              <a:srgbClr val="0F172A">
                <a:alpha val="6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p16"/>
            <p:cNvSpPr txBox="1"/>
            <p:nvPr/>
          </p:nvSpPr>
          <p:spPr>
            <a:xfrm>
              <a:off x="247650" y="209550"/>
              <a:ext cx="2105100" cy="933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pl" sz="1700">
                  <a:solidFill>
                    <a:srgbClr val="38BDF8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33.6 mln godz.</a:t>
              </a:r>
              <a:endParaRPr b="0" sz="1700">
                <a:solidFill>
                  <a:srgbClr val="38BDF8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1" lang="pl" sz="85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Roczny czas pracy techników IRATA</a:t>
              </a:r>
              <a:endParaRPr b="1" sz="85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pl" sz="7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Przepracowane w 2024 r. na świecie przez certyfikowanych specjalistów.</a:t>
              </a:r>
              <a:endParaRPr b="0" sz="7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35" name="Google Shape;135;p16"/>
            <p:cNvCxnSpPr/>
            <p:nvPr/>
          </p:nvCxnSpPr>
          <p:spPr>
            <a:xfrm>
              <a:off x="190500" y="1314450"/>
              <a:ext cx="22194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36" name="Google Shape;136;p16"/>
            <p:cNvSpPr/>
            <p:nvPr/>
          </p:nvSpPr>
          <p:spPr>
            <a:xfrm>
              <a:off x="171450" y="1428750"/>
              <a:ext cx="304800" cy="304800"/>
            </a:xfrm>
            <a:prstGeom prst="roundRect">
              <a:avLst>
                <a:gd fmla="val 25000" name="adj"/>
              </a:avLst>
            </a:prstGeom>
            <a:solidFill>
              <a:srgbClr val="0EA5E9">
                <a:alpha val="1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" name="Google Shape;137;p16"/>
            <p:cNvSpPr txBox="1"/>
            <p:nvPr/>
          </p:nvSpPr>
          <p:spPr>
            <a:xfrm>
              <a:off x="171450" y="1452118"/>
              <a:ext cx="3048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l" sz="1600">
                  <a:solidFill>
                    <a:srgbClr val="38BDF8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build</a:t>
              </a:r>
              <a:endParaRPr sz="1600">
                <a:solidFill>
                  <a:srgbClr val="38BDF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38" name="Google Shape;138;p16"/>
            <p:cNvSpPr txBox="1"/>
            <p:nvPr/>
          </p:nvSpPr>
          <p:spPr>
            <a:xfrm>
              <a:off x="552450" y="1428750"/>
              <a:ext cx="18861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pl" sz="95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Maintenance &amp; Przemysł</a:t>
              </a:r>
              <a:endParaRPr b="1" sz="95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9" name="Google Shape;139;p16"/>
            <p:cNvSpPr txBox="1"/>
            <p:nvPr/>
          </p:nvSpPr>
          <p:spPr>
            <a:xfrm>
              <a:off x="171450" y="1828800"/>
              <a:ext cx="2257500" cy="11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-282575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CBD5E1"/>
                </a:buClr>
                <a:buSzPts val="850"/>
                <a:buFont typeface="Inter"/>
                <a:buChar char="●"/>
              </a:pPr>
              <a:r>
                <a:rPr lang="pl" sz="85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Obsługa przemysłu i Oil &amp; Gas</a:t>
              </a:r>
              <a:endParaRPr sz="8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CBD5E1"/>
                </a:buClr>
                <a:buSzPts val="850"/>
                <a:buFont typeface="Inter"/>
                <a:buChar char="●"/>
              </a:pPr>
              <a:r>
                <a:rPr lang="pl" sz="85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Stały popyt na utrzymanie</a:t>
              </a:r>
              <a:endParaRPr sz="8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CBD5E1"/>
                </a:buClr>
                <a:buSzPts val="850"/>
                <a:buFont typeface="Inter"/>
                <a:buChar char="●"/>
              </a:pPr>
              <a:r>
                <a:rPr lang="pl" sz="85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Potrzeba mobilnych ekip</a:t>
              </a:r>
              <a:endParaRPr sz="8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0" name="Google Shape;140;p16"/>
          <p:cNvGrpSpPr/>
          <p:nvPr/>
        </p:nvGrpSpPr>
        <p:grpSpPr>
          <a:xfrm>
            <a:off x="476250" y="4152900"/>
            <a:ext cx="8191500" cy="705000"/>
            <a:chOff x="0" y="0"/>
            <a:chExt cx="8191500" cy="705000"/>
          </a:xfrm>
        </p:grpSpPr>
        <p:sp>
          <p:nvSpPr>
            <p:cNvPr id="141" name="Google Shape;141;p16"/>
            <p:cNvSpPr/>
            <p:nvPr/>
          </p:nvSpPr>
          <p:spPr>
            <a:xfrm>
              <a:off x="0" y="0"/>
              <a:ext cx="8191500" cy="705000"/>
            </a:xfrm>
            <a:prstGeom prst="roundRect">
              <a:avLst>
                <a:gd fmla="val 16216" name="adj"/>
              </a:avLst>
            </a:prstGeom>
            <a:solidFill>
              <a:srgbClr val="1E293B"/>
            </a:solidFill>
            <a:ln cap="flat" cmpd="sng" w="11425">
              <a:solidFill>
                <a:srgbClr val="38BDF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" name="Google Shape;142;p16"/>
            <p:cNvSpPr/>
            <p:nvPr/>
          </p:nvSpPr>
          <p:spPr>
            <a:xfrm>
              <a:off x="0" y="0"/>
              <a:ext cx="152400" cy="705000"/>
            </a:xfrm>
            <a:custGeom>
              <a:rect b="b" l="l" r="r" t="t"/>
              <a:pathLst>
                <a:path extrusionOk="0" h="120000" w="120000">
                  <a:moveTo>
                    <a:pt x="0" y="19459"/>
                  </a:moveTo>
                  <a:cubicBezTo>
                    <a:pt x="0" y="8708"/>
                    <a:pt x="40275" y="0"/>
                    <a:pt x="90000" y="0"/>
                  </a:cubicBezTo>
                  <a:lnTo>
                    <a:pt x="120000" y="0"/>
                  </a:lnTo>
                  <a:lnTo>
                    <a:pt x="120000" y="120000"/>
                  </a:lnTo>
                  <a:lnTo>
                    <a:pt x="90000" y="120000"/>
                  </a:lnTo>
                  <a:cubicBezTo>
                    <a:pt x="40275" y="120000"/>
                    <a:pt x="0" y="111292"/>
                    <a:pt x="0" y="100541"/>
                  </a:cubicBezTo>
                  <a:close/>
                </a:path>
              </a:pathLst>
            </a:custGeom>
            <a:solidFill>
              <a:srgbClr val="38BDF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" name="Google Shape;143;p16"/>
            <p:cNvSpPr txBox="1"/>
            <p:nvPr/>
          </p:nvSpPr>
          <p:spPr>
            <a:xfrm>
              <a:off x="266700" y="95250"/>
              <a:ext cx="77724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pl" sz="900">
                  <a:solidFill>
                    <a:srgbClr val="38BDF8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WSPÓLNY MIANOWNIK POTRZEB REKRUTACYJNYCH:</a:t>
              </a:r>
              <a:endParaRPr b="0" sz="900">
                <a:solidFill>
                  <a:srgbClr val="38BDF8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144" name="Google Shape;144;p16"/>
            <p:cNvSpPr txBox="1"/>
            <p:nvPr/>
          </p:nvSpPr>
          <p:spPr>
            <a:xfrm>
              <a:off x="266700" y="323850"/>
              <a:ext cx="77724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pl" sz="850">
                  <a:solidFill>
                    <a:srgbClr val="FFFFFF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Wymóg jednoczesnego weryfikowania: </a:t>
              </a:r>
              <a:r>
                <a:rPr b="1" lang="pl" sz="850">
                  <a:solidFill>
                    <a:srgbClr val="7DD3FC"/>
                  </a:solidFill>
                  <a:latin typeface="Inter"/>
                  <a:ea typeface="Inter"/>
                  <a:cs typeface="Inter"/>
                  <a:sym typeface="Inter"/>
                </a:rPr>
                <a:t>Dostępności w terminie</a:t>
              </a:r>
              <a:r>
                <a:rPr b="0" lang="pl" sz="850">
                  <a:solidFill>
                    <a:srgbClr val="FFFFFF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 + </a:t>
              </a:r>
              <a:r>
                <a:rPr b="1" lang="pl" sz="850">
                  <a:solidFill>
                    <a:srgbClr val="7DD3FC"/>
                  </a:solidFill>
                  <a:latin typeface="Inter"/>
                  <a:ea typeface="Inter"/>
                  <a:cs typeface="Inter"/>
                  <a:sym typeface="Inter"/>
                </a:rPr>
                <a:t>Certyfikatów (IRATA/GWO)</a:t>
              </a:r>
              <a:r>
                <a:rPr b="0" lang="pl" sz="850">
                  <a:solidFill>
                    <a:srgbClr val="FFFFFF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 + </a:t>
              </a:r>
              <a:r>
                <a:rPr b="1" lang="pl" sz="850">
                  <a:solidFill>
                    <a:srgbClr val="7DD3FC"/>
                  </a:solidFill>
                  <a:latin typeface="Inter"/>
                  <a:ea typeface="Inter"/>
                  <a:cs typeface="Inter"/>
                  <a:sym typeface="Inter"/>
                </a:rPr>
                <a:t>Specjalizacji</a:t>
              </a:r>
              <a:r>
                <a:rPr b="0" lang="pl" sz="850">
                  <a:solidFill>
                    <a:srgbClr val="FFFFFF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 + </a:t>
              </a:r>
              <a:r>
                <a:rPr b="1" lang="pl" sz="850">
                  <a:solidFill>
                    <a:srgbClr val="7DD3FC"/>
                  </a:solidFill>
                  <a:latin typeface="Inter"/>
                  <a:ea typeface="Inter"/>
                  <a:cs typeface="Inter"/>
                  <a:sym typeface="Inter"/>
                </a:rPr>
                <a:t>Mobilności</a:t>
              </a:r>
              <a:endParaRPr b="0" sz="850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